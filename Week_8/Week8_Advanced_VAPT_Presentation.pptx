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728655" cy="365760"/>
          </a:xfrm>
          <a:prstGeom prst="rect">
            <a:avLst/>
          </a:prstGeom>
          <a:noFill/>
        </p:spPr>
        <p:txBody>
          <a:bodyPr wrap="none">
            <a:spAutoFit/>
          </a:bodyPr>
          <a:lstStyle/>
          <a:p>
            <a:pPr>
              <a:defRPr sz="1100" b="1">
                <a:solidFill>
                  <a:srgbClr val="EBF2FF"/>
                </a:solidFill>
                <a:latin typeface="Arial"/>
              </a:defRPr>
            </a:pPr>
            <a:r>
              <a:t>WEEK 8 – ADVANCED VAPT REPORT</a:t>
            </a:r>
          </a:p>
          <a:p>
            <a:pPr algn="r">
              <a:defRPr sz="1100" b="1">
                <a:solidFill>
                  <a:srgbClr val="EBF2FF"/>
                </a:solidFill>
                <a:latin typeface="Arial"/>
              </a:defRPr>
            </a:pPr>
            <a:r>
              <a:t>DG INTERNS HUB</a:t>
            </a:r>
          </a:p>
        </p:txBody>
      </p:sp>
      <p:sp>
        <p:nvSpPr>
          <p:cNvPr id="3" name="Rounded Rectangle 2"/>
          <p:cNvSpPr/>
          <p:nvPr/>
        </p:nvSpPr>
        <p:spPr>
          <a:xfrm>
            <a:off x="731520" y="1188720"/>
            <a:ext cx="10728655" cy="4937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a:lstStyle/>
          <a:p>
            <a:pPr algn="ctr">
              <a:spcAft>
                <a:spcPts val="1400"/>
              </a:spcAft>
              <a:defRPr sz="1200" b="1">
                <a:solidFill>
                  <a:srgbClr val="2563EB"/>
                </a:solidFill>
                <a:latin typeface="Arial"/>
              </a:defRPr>
            </a:pPr>
            <a:r>
              <a:t>DG INTERNS HUB  |  CYBERSECURITY INTERNSHIP PROGRAM</a:t>
            </a:r>
          </a:p>
          <a:p>
            <a:pPr algn="ctr">
              <a:spcAft>
                <a:spcPts val="2400"/>
              </a:spcAft>
              <a:defRPr sz="2600" b="1">
                <a:solidFill>
                  <a:srgbClr val="FFFFFF"/>
                </a:solidFill>
                <a:latin typeface="Georgia"/>
              </a:defRPr>
            </a:pPr>
            <a:r>
              <a:t>ADVANCED VAPT: ATTACK SURFACE MAPPING, PARAMETER TESTING &amp; ATTACK-CHAIN ANALYSIS</a:t>
            </a:r>
          </a:p>
          <a:p>
            <a:pPr algn="ctr">
              <a:defRPr sz="1200">
                <a:solidFill>
                  <a:srgbClr val="94A3B8"/>
                </a:solidFill>
                <a:latin typeface="Arial"/>
              </a:defRPr>
            </a:pPr>
            <a:r>
              <a:t>Prepared By: Prakhar Gupta   |   Role: Cybersecurity Intern   |   Submission Date: 28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Executive Summary &amp; Core Internship Objectives</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0F172A"/>
                </a:solidFill>
                <a:latin typeface="Georgia"/>
              </a:defRPr>
            </a:pPr>
            <a:r>
              <a:t>Executive Summary</a:t>
            </a:r>
          </a:p>
          <a:p>
            <a:pPr>
              <a:spcAft>
                <a:spcPts val="1000"/>
              </a:spcAft>
            </a:pPr>
            <a:r>
              <a:rPr b="1" sz="1100">
                <a:solidFill>
                  <a:srgbClr val="2563EB"/>
                </a:solidFill>
              </a:rPr>
              <a:t>• Controlled Testing Environment:</a:t>
            </a:r>
            <a:r>
              <a:rPr sz="1100">
                <a:solidFill>
                  <a:srgbClr val="0F172A"/>
                </a:solidFill>
              </a:rPr>
              <a:t> Executed against a local Damn Vulnerable Web Application (DVWA) instance at http://127.0.0.1:8080.</a:t>
            </a:r>
          </a:p>
          <a:p>
            <a:pPr>
              <a:spcAft>
                <a:spcPts val="1000"/>
              </a:spcAft>
            </a:pPr>
            <a:r>
              <a:rPr b="1" sz="1100">
                <a:solidFill>
                  <a:srgbClr val="2563EB"/>
                </a:solidFill>
              </a:rPr>
              <a:t>• Traffic Inspection &amp; Replay:</a:t>
            </a:r>
            <a:r>
              <a:rPr sz="1100">
                <a:solidFill>
                  <a:srgbClr val="0F172A"/>
                </a:solidFill>
              </a:rPr>
              <a:t> Utilised Burp Suite Community Edition (Proxy &amp; Repeater) to inspect, compare, and modify HTTP requests/responses.</a:t>
            </a:r>
          </a:p>
          <a:p>
            <a:pPr>
              <a:spcAft>
                <a:spcPts val="1000"/>
              </a:spcAft>
            </a:pPr>
            <a:r>
              <a:rPr b="1" sz="1100">
                <a:solidFill>
                  <a:srgbClr val="2563EB"/>
                </a:solidFill>
              </a:rPr>
              <a:t>• Confirmed Vulnerability:</a:t>
            </a:r>
            <a:r>
              <a:rPr sz="1100">
                <a:solidFill>
                  <a:srgbClr val="0F172A"/>
                </a:solidFill>
              </a:rPr>
              <a:t> SQL Injection at DVWA Medium security level. Boolean payload '2 OR 1=1' bypassed logic and extracted 5 user records.</a:t>
            </a:r>
          </a:p>
          <a:p>
            <a:pPr>
              <a:spcAft>
                <a:spcPts val="1000"/>
              </a:spcAft>
            </a:pPr>
            <a:r>
              <a:rPr b="1" sz="1100">
                <a:solidFill>
                  <a:srgbClr val="2563EB"/>
                </a:solidFill>
              </a:rPr>
              <a:t>• Evidence Integrity:</a:t>
            </a:r>
            <a:r>
              <a:rPr sz="1100">
                <a:solidFill>
                  <a:srgbClr val="0F172A"/>
                </a:solidFill>
              </a:rPr>
              <a:t> Authentication GET parameters and Weak Session IDs were logged as design observations requiring further entropy validation.</a:t>
            </a:r>
          </a:p>
        </p:txBody>
      </p:sp>
      <p:sp>
        <p:nvSpPr>
          <p:cNvPr id="6" name="Rounded Rectangle 5"/>
          <p:cNvSpPr/>
          <p:nvPr/>
        </p:nvSpPr>
        <p:spPr>
          <a:xfrm>
            <a:off x="6217920" y="1463040"/>
            <a:ext cx="52422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800" b="1">
                <a:solidFill>
                  <a:srgbClr val="0F172A"/>
                </a:solidFill>
                <a:latin typeface="Georgia"/>
              </a:defRPr>
            </a:pPr>
            <a:r>
              <a:t>Core Assessment Objectives</a:t>
            </a:r>
          </a:p>
          <a:p>
            <a:pPr>
              <a:spcAft>
                <a:spcPts val="1200"/>
              </a:spcAft>
              <a:defRPr sz="1100">
                <a:solidFill>
                  <a:srgbClr val="0F172A"/>
                </a:solidFill>
              </a:defRPr>
            </a:pPr>
            <a:r>
              <a:t>1. Map application endpoints and isolate user-supplied input vectors.</a:t>
            </a:r>
          </a:p>
          <a:p>
            <a:pPr>
              <a:spcAft>
                <a:spcPts val="1200"/>
              </a:spcAft>
              <a:defRPr sz="1100">
                <a:solidFill>
                  <a:srgbClr val="0F172A"/>
                </a:solidFill>
              </a:defRPr>
            </a:pPr>
            <a:r>
              <a:t>2. Intercept and analyze HTTP requests and responses under normal and tampered conditions.</a:t>
            </a:r>
          </a:p>
          <a:p>
            <a:pPr>
              <a:spcAft>
                <a:spcPts val="1200"/>
              </a:spcAft>
              <a:defRPr sz="1100">
                <a:solidFill>
                  <a:srgbClr val="0F172A"/>
                </a:solidFill>
              </a:defRPr>
            </a:pPr>
            <a:r>
              <a:t>3. Evaluate baseline vs Boolean-logic modified parameter behavior in SQL queries.</a:t>
            </a:r>
          </a:p>
          <a:p>
            <a:pPr>
              <a:spcAft>
                <a:spcPts val="1200"/>
              </a:spcAft>
              <a:defRPr sz="1100">
                <a:solidFill>
                  <a:srgbClr val="0F172A"/>
                </a:solidFill>
              </a:defRPr>
            </a:pPr>
            <a:r>
              <a:t>4. Audit credential transmission methods and session cookie lifecycle.</a:t>
            </a:r>
          </a:p>
          <a:p>
            <a:pPr>
              <a:spcAft>
                <a:spcPts val="1200"/>
              </a:spcAft>
              <a:defRPr sz="1100">
                <a:solidFill>
                  <a:srgbClr val="0F172A"/>
                </a:solidFill>
              </a:defRPr>
            </a:pPr>
            <a:r>
              <a:t>5. Deliver an evidence-grounded assessment without overstating unverified exploitability.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Scope, Lab Environment &amp; Testing Methodology</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2563EB"/>
                </a:solidFill>
                <a:latin typeface="Georgia"/>
              </a:defRPr>
            </a:pPr>
            <a:r>
              <a:t>Authorized Scope</a:t>
            </a:r>
          </a:p>
          <a:p>
            <a:pPr>
              <a:spcAft>
                <a:spcPts val="1000"/>
              </a:spcAft>
            </a:pPr>
            <a:r>
              <a:rPr b="1" sz="1100">
                <a:solidFill>
                  <a:srgbClr val="0F172A"/>
                </a:solidFill>
              </a:rPr>
              <a:t>Target Application:
</a:t>
            </a:r>
            <a:r>
              <a:rPr sz="1050">
                <a:solidFill>
                  <a:srgbClr val="475569"/>
                </a:solidFill>
              </a:rPr>
              <a:t>DVWA instance hosted locally at http://127.0.0.1:8080.</a:t>
            </a:r>
          </a:p>
          <a:p>
            <a:pPr>
              <a:spcAft>
                <a:spcPts val="1000"/>
              </a:spcAft>
            </a:pPr>
            <a:r>
              <a:rPr b="1" sz="1100">
                <a:solidFill>
                  <a:srgbClr val="0F172A"/>
                </a:solidFill>
              </a:rPr>
              <a:t>Tested Functional Modules:
</a:t>
            </a:r>
            <a:r>
              <a:rPr sz="1050">
                <a:solidFill>
                  <a:srgbClr val="475569"/>
                </a:solidFill>
              </a:rPr>
              <a:t>SQL Injection, Brute Force Authentication, Weak Session IDs.</a:t>
            </a:r>
          </a:p>
          <a:p>
            <a:pPr>
              <a:spcAft>
                <a:spcPts val="1000"/>
              </a:spcAft>
            </a:pPr>
            <a:r>
              <a:rPr b="1" sz="1100">
                <a:solidFill>
                  <a:srgbClr val="0F172A"/>
                </a:solidFill>
              </a:rPr>
              <a:t>Boundary Constraints:
</a:t>
            </a:r>
            <a:r>
              <a:rPr sz="1050">
                <a:solidFill>
                  <a:srgbClr val="475569"/>
                </a:solidFill>
              </a:rPr>
              <a:t>Strictly limited to authorized local training environment; no external targets.</a:t>
            </a:r>
          </a:p>
        </p:txBody>
      </p:sp>
      <p:sp>
        <p:nvSpPr>
          <p:cNvPr id="6" name="Rounded Rectangle 5"/>
          <p:cNvSpPr/>
          <p:nvPr/>
        </p:nvSpPr>
        <p:spPr>
          <a:xfrm>
            <a:off x="4389120" y="146304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2563EB"/>
                </a:solidFill>
                <a:latin typeface="Georgia"/>
              </a:defRPr>
            </a:pPr>
            <a:r>
              <a:t>Lab Environment</a:t>
            </a:r>
          </a:p>
          <a:p>
            <a:pPr>
              <a:spcAft>
                <a:spcPts val="1000"/>
              </a:spcAft>
            </a:pPr>
            <a:r>
              <a:rPr b="1" sz="1100">
                <a:solidFill>
                  <a:srgbClr val="0F172A"/>
                </a:solidFill>
              </a:rPr>
              <a:t>Target Platform:
</a:t>
            </a:r>
            <a:r>
              <a:rPr sz="1050">
                <a:solidFill>
                  <a:srgbClr val="475569"/>
                </a:solidFill>
              </a:rPr>
              <a:t>DVWA running on Apache/PHP under Medium Security level.</a:t>
            </a:r>
          </a:p>
          <a:p>
            <a:pPr>
              <a:spcAft>
                <a:spcPts val="1000"/>
              </a:spcAft>
            </a:pPr>
            <a:r>
              <a:rPr b="1" sz="1100">
                <a:solidFill>
                  <a:srgbClr val="0F172A"/>
                </a:solidFill>
              </a:rPr>
              <a:t>Proxy &amp; Interception:
</a:t>
            </a:r>
            <a:r>
              <a:rPr sz="1050">
                <a:solidFill>
                  <a:srgbClr val="475569"/>
                </a:solidFill>
              </a:rPr>
              <a:t>Burp Suite Community Edition (Proxy HTTP History &amp; Repeater).</a:t>
            </a:r>
          </a:p>
          <a:p>
            <a:pPr>
              <a:spcAft>
                <a:spcPts val="1000"/>
              </a:spcAft>
            </a:pPr>
            <a:r>
              <a:rPr b="1" sz="1100">
                <a:solidFill>
                  <a:srgbClr val="0F172A"/>
                </a:solidFill>
              </a:rPr>
              <a:t>Browser &amp; Routing:
</a:t>
            </a:r>
            <a:r>
              <a:rPr sz="1050">
                <a:solidFill>
                  <a:srgbClr val="475569"/>
                </a:solidFill>
              </a:rPr>
              <a:t>Firefox with FoxyProxy extension routing traffic to 127.0.0.1:8080.</a:t>
            </a:r>
          </a:p>
        </p:txBody>
      </p:sp>
      <p:sp>
        <p:nvSpPr>
          <p:cNvPr id="7" name="Rounded Rectangle 6"/>
          <p:cNvSpPr/>
          <p:nvPr/>
        </p:nvSpPr>
        <p:spPr>
          <a:xfrm>
            <a:off x="8046720" y="1463040"/>
            <a:ext cx="34134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sz="1600" b="1">
                <a:solidFill>
                  <a:srgbClr val="2563EB"/>
                </a:solidFill>
                <a:latin typeface="Georgia"/>
              </a:defRPr>
            </a:pPr>
            <a:r>
              <a:t>Manual Methodology</a:t>
            </a:r>
          </a:p>
          <a:p>
            <a:pPr>
              <a:spcAft>
                <a:spcPts val="1000"/>
              </a:spcAft>
            </a:pPr>
            <a:r>
              <a:rPr b="1" sz="1100">
                <a:solidFill>
                  <a:srgbClr val="0F172A"/>
                </a:solidFill>
              </a:rPr>
              <a:t>1. Route Mapping:
</a:t>
            </a:r>
            <a:r>
              <a:rPr sz="1050">
                <a:solidFill>
                  <a:srgbClr val="475569"/>
                </a:solidFill>
              </a:rPr>
              <a:t>Navigate endpoints and log inputs in Burp Proxy history.</a:t>
            </a:r>
          </a:p>
          <a:p>
            <a:pPr>
              <a:spcAft>
                <a:spcPts val="1000"/>
              </a:spcAft>
            </a:pPr>
            <a:r>
              <a:rPr b="1" sz="1100">
                <a:solidFill>
                  <a:srgbClr val="0F172A"/>
                </a:solidFill>
              </a:rPr>
              <a:t>2. Request Isolation:
</a:t>
            </a:r>
            <a:r>
              <a:rPr sz="1050">
                <a:solidFill>
                  <a:srgbClr val="475569"/>
                </a:solidFill>
              </a:rPr>
              <a:t>Send target baseline requests directly to Burp Repeater.</a:t>
            </a:r>
          </a:p>
          <a:p>
            <a:pPr>
              <a:spcAft>
                <a:spcPts val="1000"/>
              </a:spcAft>
            </a:pPr>
            <a:r>
              <a:rPr b="1" sz="1100">
                <a:solidFill>
                  <a:srgbClr val="0F172A"/>
                </a:solidFill>
              </a:rPr>
              <a:t>3. Parameter Tampering:
</a:t>
            </a:r>
            <a:r>
              <a:rPr sz="1050">
                <a:solidFill>
                  <a:srgbClr val="475569"/>
                </a:solidFill>
              </a:rPr>
              <a:t>Modify single variables (e.g. Boolean logic '2 OR 1=1').</a:t>
            </a:r>
          </a:p>
          <a:p>
            <a:pPr>
              <a:spcAft>
                <a:spcPts val="1000"/>
              </a:spcAft>
            </a:pPr>
            <a:r>
              <a:rPr b="1" sz="1100">
                <a:solidFill>
                  <a:srgbClr val="0F172A"/>
                </a:solidFill>
              </a:rPr>
              <a:t>4. Differential Analysis:
</a:t>
            </a:r>
            <a:r>
              <a:rPr sz="1050">
                <a:solidFill>
                  <a:srgbClr val="475569"/>
                </a:solidFill>
              </a:rPr>
              <a:t>Compare status codes, headers, and body content side-by-side.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Attack Surface Mapping &amp; Route Enumeration</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72865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1500" b="1">
                <a:solidFill>
                  <a:srgbClr val="0F172A"/>
                </a:solidFill>
                <a:latin typeface="Georgia"/>
              </a:rPr>
              <a:t>SQL Injection Module  </a:t>
            </a:r>
            <a:r>
              <a:rPr sz="1200" b="1">
                <a:solidFill>
                  <a:srgbClr val="2563EB"/>
                </a:solidFill>
              </a:rPr>
              <a:t>[/vulnerabilities/sqli/]</a:t>
            </a:r>
          </a:p>
          <a:p>
            <a:pPr>
              <a:defRPr sz="1100">
                <a:solidFill>
                  <a:srgbClr val="475569"/>
                </a:solidFill>
              </a:defRPr>
            </a:pPr>
            <a:r>
              <a:t>User-supplied 'id' parameter submitted to database lookup function.</a:t>
            </a:r>
          </a:p>
        </p:txBody>
      </p:sp>
      <p:sp>
        <p:nvSpPr>
          <p:cNvPr id="6" name="Rounded Rectangle 5"/>
          <p:cNvSpPr/>
          <p:nvPr/>
        </p:nvSpPr>
        <p:spPr>
          <a:xfrm>
            <a:off x="731520" y="2651760"/>
            <a:ext cx="1072865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1500" b="1">
                <a:solidFill>
                  <a:srgbClr val="0F172A"/>
                </a:solidFill>
                <a:latin typeface="Georgia"/>
              </a:rPr>
              <a:t>Brute Force Module  </a:t>
            </a:r>
            <a:r>
              <a:rPr sz="1200" b="1">
                <a:solidFill>
                  <a:srgbClr val="2563EB"/>
                </a:solidFill>
              </a:rPr>
              <a:t>[/vulnerabilities/brute/]</a:t>
            </a:r>
          </a:p>
          <a:p>
            <a:pPr>
              <a:defRPr sz="1100">
                <a:solidFill>
                  <a:srgbClr val="475569"/>
                </a:solidFill>
              </a:defRPr>
            </a:pPr>
            <a:r>
              <a:t>Username &amp; password input parameters on authentication test page.</a:t>
            </a:r>
          </a:p>
        </p:txBody>
      </p:sp>
      <p:sp>
        <p:nvSpPr>
          <p:cNvPr id="7" name="Rounded Rectangle 6"/>
          <p:cNvSpPr/>
          <p:nvPr/>
        </p:nvSpPr>
        <p:spPr>
          <a:xfrm>
            <a:off x="731520" y="3840480"/>
            <a:ext cx="10728655"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r>
              <a:rPr sz="1500" b="1">
                <a:solidFill>
                  <a:srgbClr val="0F172A"/>
                </a:solidFill>
                <a:latin typeface="Georgia"/>
              </a:rPr>
              <a:t>Weak Session ID Module  </a:t>
            </a:r>
            <a:r>
              <a:rPr sz="1200" b="1">
                <a:solidFill>
                  <a:srgbClr val="2563EB"/>
                </a:solidFill>
              </a:rPr>
              <a:t>[/vulnerabilities/weak_id/]</a:t>
            </a:r>
          </a:p>
          <a:p>
            <a:pPr>
              <a:defRPr sz="1100">
                <a:solidFill>
                  <a:srgbClr val="475569"/>
                </a:solidFill>
              </a:defRPr>
            </a:pPr>
            <a:r>
              <a:t>Generate button action triggers 'dvwaSession' cookie assignment.</a:t>
            </a:r>
          </a:p>
        </p:txBody>
      </p:sp>
      <p:sp>
        <p:nvSpPr>
          <p:cNvPr id="8" name="Rounded Rectangle 7"/>
          <p:cNvSpPr/>
          <p:nvPr/>
        </p:nvSpPr>
        <p:spPr>
          <a:xfrm>
            <a:off x="731520" y="5120640"/>
            <a:ext cx="10728655" cy="1188720"/>
          </a:xfrm>
          <a:prstGeom prst="roundRect">
            <a:avLst/>
          </a:prstGeom>
          <a:solidFill>
            <a:srgbClr val="EB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400" b="1">
                <a:solidFill>
                  <a:srgbClr val="2563EB"/>
                </a:solidFill>
                <a:latin typeface="Georgia"/>
              </a:defRPr>
            </a:pPr>
            <a:r>
              <a:t>Monitored Shared Application State Variables</a:t>
            </a:r>
          </a:p>
          <a:p>
            <a:pPr>
              <a:defRPr sz="1050">
                <a:solidFill>
                  <a:srgbClr val="0F172A"/>
                </a:solidFill>
              </a:defRPr>
            </a:pPr>
            <a:r>
              <a:t>• Active Session Cookie: Monitored 'PHPSESSID' across all HTTP requests to verify state persistence.</a:t>
            </a:r>
          </a:p>
          <a:p>
            <a:pPr>
              <a:defRPr sz="1050">
                <a:solidFill>
                  <a:srgbClr val="0F172A"/>
                </a:solidFill>
              </a:defRPr>
            </a:pPr>
            <a:r>
              <a:t>• Security Configuration: Enforced 'security=medium' cookie value across all test modules to evaluate medium-level defenses.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SQL Injection Parameter Testing &amp; Logic Bypass</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2422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2563EB"/>
                </a:solidFill>
                <a:latin typeface="Georgia"/>
              </a:rPr>
              <a:t>Baseline Test (id=1)
</a:t>
            </a:r>
          </a:p>
          <a:p>
            <a:r>
              <a:rPr sz="1100" b="1">
                <a:solidFill>
                  <a:srgbClr val="0F172A"/>
                </a:solidFill>
              </a:rPr>
              <a:t>Status: HTTP 200 OK
</a:t>
            </a:r>
          </a:p>
          <a:p>
            <a:pPr>
              <a:defRPr sz="1050">
                <a:solidFill>
                  <a:srgbClr val="475569"/>
                </a:solidFill>
              </a:defRPr>
            </a:pPr>
            <a:r>
              <a:t>Returned single record for 'admin'. Established normal application behavior.</a:t>
            </a:r>
          </a:p>
        </p:txBody>
      </p:sp>
      <p:sp>
        <p:nvSpPr>
          <p:cNvPr id="6" name="Rounded Rectangle 5"/>
          <p:cNvSpPr/>
          <p:nvPr/>
        </p:nvSpPr>
        <p:spPr>
          <a:xfrm>
            <a:off x="6217920" y="1463040"/>
            <a:ext cx="52422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475569"/>
                </a:solidFill>
                <a:latin typeface="Georgia"/>
              </a:rPr>
              <a:t>Invalid Parameter (id=999)
</a:t>
            </a:r>
          </a:p>
          <a:p>
            <a:r>
              <a:rPr sz="1100" b="1">
                <a:solidFill>
                  <a:srgbClr val="0F172A"/>
                </a:solidFill>
              </a:rPr>
              <a:t>Status: HTTP 200 OK
</a:t>
            </a:r>
          </a:p>
          <a:p>
            <a:pPr>
              <a:defRPr sz="1050">
                <a:solidFill>
                  <a:srgbClr val="475569"/>
                </a:solidFill>
              </a:defRPr>
            </a:pPr>
            <a:r>
              <a:t>No records displayed. Confirms expected handling for non-matching lookup.</a:t>
            </a:r>
          </a:p>
        </p:txBody>
      </p:sp>
      <p:sp>
        <p:nvSpPr>
          <p:cNvPr id="7" name="Rounded Rectangle 6"/>
          <p:cNvSpPr/>
          <p:nvPr/>
        </p:nvSpPr>
        <p:spPr>
          <a:xfrm>
            <a:off x="731520" y="3931920"/>
            <a:ext cx="52422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2563EB"/>
                </a:solidFill>
                <a:latin typeface="Georgia"/>
              </a:rPr>
              <a:t>Valid Parameter (id=2)
</a:t>
            </a:r>
          </a:p>
          <a:p>
            <a:r>
              <a:rPr sz="1100" b="1">
                <a:solidFill>
                  <a:srgbClr val="0F172A"/>
                </a:solidFill>
              </a:rPr>
              <a:t>Status: HTTP 200 OK
</a:t>
            </a:r>
          </a:p>
          <a:p>
            <a:pPr>
              <a:defRPr sz="1050">
                <a:solidFill>
                  <a:srgbClr val="475569"/>
                </a:solidFill>
              </a:defRPr>
            </a:pPr>
            <a:r>
              <a:t>Returned single record for 'Gordon Brown'. Verified single record query behavior.</a:t>
            </a:r>
          </a:p>
        </p:txBody>
      </p:sp>
      <p:sp>
        <p:nvSpPr>
          <p:cNvPr id="8" name="Rounded Rectangle 7"/>
          <p:cNvSpPr/>
          <p:nvPr/>
        </p:nvSpPr>
        <p:spPr>
          <a:xfrm>
            <a:off x="6217920" y="3931920"/>
            <a:ext cx="5242255"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500" b="1">
                <a:solidFill>
                  <a:srgbClr val="DC2626"/>
                </a:solidFill>
                <a:latin typeface="Georgia"/>
              </a:rPr>
              <a:t>Modified Logic (2 OR 1=1)
</a:t>
            </a:r>
          </a:p>
          <a:p>
            <a:r>
              <a:rPr sz="1100" b="1">
                <a:solidFill>
                  <a:srgbClr val="0F172A"/>
                </a:solidFill>
              </a:rPr>
              <a:t>Status: HTTP 200 OK
</a:t>
            </a:r>
          </a:p>
          <a:p>
            <a:pPr>
              <a:defRPr sz="1050">
                <a:solidFill>
                  <a:srgbClr val="475569"/>
                </a:solidFill>
              </a:defRPr>
            </a:pPr>
            <a:r>
              <a:t>Executed altered query logic, disclosing ALL 5 database user records in response.</a:t>
            </a:r>
          </a:p>
        </p:txBody>
      </p:sp>
      <p:sp>
        <p:nvSpPr>
          <p:cNvPr id="9" name="TextBox 8"/>
          <p:cNvSpPr txBox="1"/>
          <p:nvPr/>
        </p:nvSpPr>
        <p:spPr>
          <a:xfrm>
            <a:off x="731520" y="6309360"/>
            <a:ext cx="10728655" cy="365760"/>
          </a:xfrm>
          <a:prstGeom prst="rect">
            <a:avLst/>
          </a:prstGeom>
          <a:noFill/>
        </p:spPr>
        <p:txBody>
          <a:bodyPr wrap="none">
            <a:spAutoFit/>
          </a:bodyPr>
          <a:lstStyle/>
          <a:p>
            <a:pPr>
              <a:defRPr sz="1000" i="1">
                <a:solidFill>
                  <a:srgbClr val="475569"/>
                </a:solidFill>
              </a:defRPr>
            </a:pPr>
            <a:r>
              <a:t>Report Reference: Figures 3, 4, 5 &amp; Figure 6 (SQL Injection Demonstration at DVWA Medium Security Level)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Authentication Surface &amp; Session Cookie Analysis</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D97706"/>
                </a:solidFill>
                <a:latin typeface="Georgia"/>
              </a:defRPr>
            </a:pPr>
            <a:r>
              <a:t>Authentication Surface (GET Method)</a:t>
            </a:r>
          </a:p>
          <a:p>
            <a:pPr>
              <a:spcAft>
                <a:spcPts val="1000"/>
              </a:spcAft>
            </a:pPr>
            <a:r>
              <a:rPr b="1" sz="1100">
                <a:solidFill>
                  <a:srgbClr val="0F172A"/>
                </a:solidFill>
              </a:rPr>
              <a:t>• Query String Exposure:</a:t>
            </a:r>
            <a:r>
              <a:rPr sz="1050">
                <a:solidFill>
                  <a:srgbClr val="475569"/>
                </a:solidFill>
              </a:rPr>
              <a:t> Credentials ('username' &amp; 'password') transmitted directly in URL query string via HTTP GET.</a:t>
            </a:r>
          </a:p>
          <a:p>
            <a:pPr>
              <a:spcAft>
                <a:spcPts val="1000"/>
              </a:spcAft>
            </a:pPr>
            <a:r>
              <a:rPr b="1" sz="1100">
                <a:solidFill>
                  <a:srgbClr val="0F172A"/>
                </a:solidFill>
              </a:rPr>
              <a:t>• Logging Vulnerability:</a:t>
            </a:r>
            <a:r>
              <a:rPr sz="1050">
                <a:solidFill>
                  <a:srgbClr val="475569"/>
                </a:solidFill>
              </a:rPr>
              <a:t> Exposes plain-text credentials to browser history, server access logs, proxy history, and referrer headers.</a:t>
            </a:r>
          </a:p>
          <a:p>
            <a:pPr>
              <a:spcAft>
                <a:spcPts val="1000"/>
              </a:spcAft>
            </a:pPr>
            <a:r>
              <a:rPr b="1" sz="1100">
                <a:solidFill>
                  <a:srgbClr val="0F172A"/>
                </a:solidFill>
              </a:rPr>
              <a:t>• Evidence Boundary:</a:t>
            </a:r>
            <a:r>
              <a:rPr sz="1050">
                <a:solidFill>
                  <a:srgbClr val="475569"/>
                </a:solidFill>
              </a:rPr>
              <a:t> Captured GET request demonstrates design concern; does NOT prove successful brute-forcing or absence of rate-limiting.</a:t>
            </a:r>
          </a:p>
        </p:txBody>
      </p:sp>
      <p:sp>
        <p:nvSpPr>
          <p:cNvPr id="6" name="Rounded Rectangle 5"/>
          <p:cNvSpPr/>
          <p:nvPr/>
        </p:nvSpPr>
        <p:spPr>
          <a:xfrm>
            <a:off x="6217920" y="146304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2563EB"/>
                </a:solidFill>
                <a:latin typeface="Georgia"/>
              </a:defRPr>
            </a:pPr>
            <a:r>
              <a:t>Weak Session ID Evaluation</a:t>
            </a:r>
          </a:p>
          <a:p>
            <a:pPr>
              <a:spcAft>
                <a:spcPts val="1000"/>
              </a:spcAft>
            </a:pPr>
            <a:r>
              <a:rPr b="1" sz="1100">
                <a:solidFill>
                  <a:srgbClr val="0F172A"/>
                </a:solidFill>
              </a:rPr>
              <a:t>• Dynamic Token Issuance:</a:t>
            </a:r>
            <a:r>
              <a:rPr sz="1050">
                <a:solidFill>
                  <a:srgbClr val="475569"/>
                </a:solidFill>
              </a:rPr>
              <a:t> POST request to /vulnerabilities/weak_id/ returned HTTP 200 OK with 'Set-Cookie: dvwaSession'.</a:t>
            </a:r>
          </a:p>
          <a:p>
            <a:pPr>
              <a:spcAft>
                <a:spcPts val="1000"/>
              </a:spcAft>
            </a:pPr>
            <a:r>
              <a:rPr b="1" sz="1100">
                <a:solidFill>
                  <a:srgbClr val="0F172A"/>
                </a:solidFill>
              </a:rPr>
              <a:t>• Observed Token Variation:</a:t>
            </a:r>
            <a:r>
              <a:rPr sz="1050">
                <a:solidFill>
                  <a:srgbClr val="475569"/>
                </a:solidFill>
              </a:rPr>
              <a:t> Subsequent Generate actions yielded varying session cookie values across requests.</a:t>
            </a:r>
          </a:p>
          <a:p>
            <a:pPr>
              <a:spcAft>
                <a:spcPts val="1000"/>
              </a:spcAft>
            </a:pPr>
            <a:r>
              <a:rPr b="1" sz="1100">
                <a:solidFill>
                  <a:srgbClr val="0F172A"/>
                </a:solidFill>
              </a:rPr>
              <a:t>• Validation Requirement:</a:t>
            </a:r>
            <a:r>
              <a:rPr sz="1050">
                <a:solidFill>
                  <a:srgbClr val="475569"/>
                </a:solidFill>
              </a:rPr>
              <a:t> Changing token value alone does NOT prove weakness; entropy analysis &amp; token predictability testing required.</a:t>
            </a:r>
          </a:p>
        </p:txBody>
      </p:sp>
      <p:sp>
        <p:nvSpPr>
          <p:cNvPr id="7" name="TextBox 6"/>
          <p:cNvSpPr txBox="1"/>
          <p:nvPr/>
        </p:nvSpPr>
        <p:spPr>
          <a:xfrm>
            <a:off x="731520" y="6309360"/>
            <a:ext cx="10728655" cy="365760"/>
          </a:xfrm>
          <a:prstGeom prst="rect">
            <a:avLst/>
          </a:prstGeom>
          <a:noFill/>
        </p:spPr>
        <p:txBody>
          <a:bodyPr wrap="none">
            <a:spAutoFit/>
          </a:bodyPr>
          <a:lstStyle/>
          <a:p>
            <a:pPr>
              <a:defRPr sz="1000" i="1">
                <a:solidFill>
                  <a:srgbClr val="475569"/>
                </a:solidFill>
              </a:defRPr>
            </a:pPr>
            <a:r>
              <a:t>Report Reference: Figure 1 (Brute Force Assessment) &amp; Figure 9/10 (Weak Session ID Value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Risk Assessment Matrix &amp; Findings Classification</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2560320"/>
                <a:gridCol w="2560320"/>
                <a:gridCol w="3962095"/>
                <a:gridCol w="1645920"/>
              </a:tblGrid>
              <a:tr h="932688">
                <a:tc>
                  <a:txBody>
                    <a:bodyPr/>
                    <a:lstStyle/>
                    <a:p>
                      <a:pPr>
                        <a:defRPr sz="1100" b="1">
                          <a:solidFill>
                            <a:srgbClr val="FFFFFF"/>
                          </a:solidFill>
                          <a:latin typeface="Arial"/>
                        </a:defRPr>
                      </a:pPr>
                      <a:r>
                        <a:t>Vulnerability / Observation</a:t>
                      </a:r>
                    </a:p>
                  </a:txBody>
                  <a:tcPr>
                    <a:solidFill>
                      <a:srgbClr val="0F172A"/>
                    </a:solidFill>
                  </a:tcPr>
                </a:tc>
                <a:tc>
                  <a:txBody>
                    <a:bodyPr/>
                    <a:lstStyle/>
                    <a:p>
                      <a:pPr>
                        <a:defRPr sz="1100" b="1">
                          <a:solidFill>
                            <a:srgbClr val="FFFFFF"/>
                          </a:solidFill>
                          <a:latin typeface="Arial"/>
                        </a:defRPr>
                      </a:pPr>
                      <a:r>
                        <a:t>Evidence Status</a:t>
                      </a:r>
                    </a:p>
                  </a:txBody>
                  <a:tcPr>
                    <a:solidFill>
                      <a:srgbClr val="0F172A"/>
                    </a:solidFill>
                  </a:tcPr>
                </a:tc>
                <a:tc>
                  <a:txBody>
                    <a:bodyPr/>
                    <a:lstStyle/>
                    <a:p>
                      <a:pPr>
                        <a:defRPr sz="1100" b="1">
                          <a:solidFill>
                            <a:srgbClr val="FFFFFF"/>
                          </a:solidFill>
                          <a:latin typeface="Arial"/>
                        </a:defRPr>
                      </a:pPr>
                      <a:r>
                        <a:t>Potential Security Impact</a:t>
                      </a:r>
                    </a:p>
                  </a:txBody>
                  <a:tcPr>
                    <a:solidFill>
                      <a:srgbClr val="0F172A"/>
                    </a:solidFill>
                  </a:tcPr>
                </a:tc>
                <a:tc>
                  <a:txBody>
                    <a:bodyPr/>
                    <a:lstStyle/>
                    <a:p>
                      <a:pPr>
                        <a:defRPr sz="1100" b="1">
                          <a:solidFill>
                            <a:srgbClr val="FFFFFF"/>
                          </a:solidFill>
                          <a:latin typeface="Arial"/>
                        </a:defRPr>
                      </a:pPr>
                      <a:r>
                        <a:t>Risk Severity</a:t>
                      </a:r>
                    </a:p>
                  </a:txBody>
                  <a:tcPr>
                    <a:solidFill>
                      <a:srgbClr val="0F172A"/>
                    </a:solidFill>
                  </a:tcPr>
                </a:tc>
              </a:tr>
              <a:tr h="932688">
                <a:tc>
                  <a:txBody>
                    <a:bodyPr/>
                    <a:lstStyle/>
                    <a:p>
                      <a:pPr>
                        <a:defRPr sz="1050">
                          <a:solidFill>
                            <a:srgbClr val="0F172A"/>
                          </a:solidFill>
                          <a:latin typeface="Arial"/>
                        </a:defRPr>
                      </a:pPr>
                      <a:r>
                        <a:t>SQL Query Logic Alteration</a:t>
                      </a:r>
                    </a:p>
                  </a:txBody>
                  <a:tcPr>
                    <a:solidFill>
                      <a:srgbClr val="FFFFFF"/>
                    </a:solidFill>
                  </a:tcPr>
                </a:tc>
                <a:tc>
                  <a:txBody>
                    <a:bodyPr/>
                    <a:lstStyle/>
                    <a:p>
                      <a:pPr>
                        <a:defRPr sz="1050">
                          <a:solidFill>
                            <a:srgbClr val="0F172A"/>
                          </a:solidFill>
                          <a:latin typeface="Arial"/>
                        </a:defRPr>
                      </a:pPr>
                      <a:r>
                        <a:t>Confirmed in local DVWA Medium</a:t>
                      </a:r>
                    </a:p>
                  </a:txBody>
                  <a:tcPr>
                    <a:solidFill>
                      <a:srgbClr val="FFFFFF"/>
                    </a:solidFill>
                  </a:tcPr>
                </a:tc>
                <a:tc>
                  <a:txBody>
                    <a:bodyPr/>
                    <a:lstStyle/>
                    <a:p>
                      <a:pPr>
                        <a:defRPr sz="1050">
                          <a:solidFill>
                            <a:srgbClr val="0F172A"/>
                          </a:solidFill>
                          <a:latin typeface="Arial"/>
                        </a:defRPr>
                      </a:pPr>
                      <a:r>
                        <a:t>Multi-record database disclosure via Boolean payload</a:t>
                      </a:r>
                    </a:p>
                  </a:txBody>
                  <a:tcPr>
                    <a:solidFill>
                      <a:srgbClr val="FFFFFF"/>
                    </a:solidFill>
                  </a:tcPr>
                </a:tc>
                <a:tc>
                  <a:txBody>
                    <a:bodyPr/>
                    <a:lstStyle/>
                    <a:p>
                      <a:pPr>
                        <a:defRPr sz="1050" b="1">
                          <a:solidFill>
                            <a:srgbClr val="DC2626"/>
                          </a:solidFill>
                          <a:latin typeface="Arial"/>
                        </a:defRPr>
                      </a:pPr>
                      <a:r>
                        <a:t>HIGH (Lab)</a:t>
                      </a:r>
                    </a:p>
                  </a:txBody>
                  <a:tcPr>
                    <a:solidFill>
                      <a:srgbClr val="FFFFFF"/>
                    </a:solidFill>
                  </a:tcPr>
                </a:tc>
              </a:tr>
              <a:tr h="932688">
                <a:tc>
                  <a:txBody>
                    <a:bodyPr/>
                    <a:lstStyle/>
                    <a:p>
                      <a:pPr>
                        <a:defRPr sz="1050">
                          <a:solidFill>
                            <a:srgbClr val="0F172A"/>
                          </a:solidFill>
                          <a:latin typeface="Arial"/>
                        </a:defRPr>
                      </a:pPr>
                      <a:r>
                        <a:t>Credentials Transmitted in URL</a:t>
                      </a:r>
                    </a:p>
                  </a:txBody>
                  <a:tcPr>
                    <a:solidFill>
                      <a:srgbClr val="F8FAFC"/>
                    </a:solidFill>
                  </a:tcPr>
                </a:tc>
                <a:tc>
                  <a:txBody>
                    <a:bodyPr/>
                    <a:lstStyle/>
                    <a:p>
                      <a:pPr>
                        <a:defRPr sz="1050">
                          <a:solidFill>
                            <a:srgbClr val="0F172A"/>
                          </a:solidFill>
                          <a:latin typeface="Arial"/>
                        </a:defRPr>
                      </a:pPr>
                      <a:r>
                        <a:t>Observed GET Request capture</a:t>
                      </a:r>
                    </a:p>
                  </a:txBody>
                  <a:tcPr>
                    <a:solidFill>
                      <a:srgbClr val="F8FAFC"/>
                    </a:solidFill>
                  </a:tcPr>
                </a:tc>
                <a:tc>
                  <a:txBody>
                    <a:bodyPr/>
                    <a:lstStyle/>
                    <a:p>
                      <a:pPr>
                        <a:defRPr sz="1050">
                          <a:solidFill>
                            <a:srgbClr val="0F172A"/>
                          </a:solidFill>
                          <a:latin typeface="Arial"/>
                        </a:defRPr>
                      </a:pPr>
                      <a:r>
                        <a:t>Credential exposure in logs, history &amp; referrer headers</a:t>
                      </a:r>
                    </a:p>
                  </a:txBody>
                  <a:tcPr>
                    <a:solidFill>
                      <a:srgbClr val="F8FAFC"/>
                    </a:solidFill>
                  </a:tcPr>
                </a:tc>
                <a:tc>
                  <a:txBody>
                    <a:bodyPr/>
                    <a:lstStyle/>
                    <a:p>
                      <a:pPr>
                        <a:defRPr sz="1050" b="1">
                          <a:solidFill>
                            <a:srgbClr val="D97706"/>
                          </a:solidFill>
                          <a:latin typeface="Arial"/>
                        </a:defRPr>
                      </a:pPr>
                      <a:r>
                        <a:t>MEDIUM (Design)</a:t>
                      </a:r>
                    </a:p>
                  </a:txBody>
                  <a:tcPr>
                    <a:solidFill>
                      <a:srgbClr val="F8FAFC"/>
                    </a:solidFill>
                  </a:tcPr>
                </a:tc>
              </a:tr>
              <a:tr h="932688">
                <a:tc>
                  <a:txBody>
                    <a:bodyPr/>
                    <a:lstStyle/>
                    <a:p>
                      <a:pPr>
                        <a:defRPr sz="1050">
                          <a:solidFill>
                            <a:srgbClr val="0F172A"/>
                          </a:solidFill>
                          <a:latin typeface="Arial"/>
                        </a:defRPr>
                      </a:pPr>
                      <a:r>
                        <a:t>Changing dvwaSession Value</a:t>
                      </a:r>
                    </a:p>
                  </a:txBody>
                  <a:tcPr>
                    <a:solidFill>
                      <a:srgbClr val="FFFFFF"/>
                    </a:solidFill>
                  </a:tcPr>
                </a:tc>
                <a:tc>
                  <a:txBody>
                    <a:bodyPr/>
                    <a:lstStyle/>
                    <a:p>
                      <a:pPr>
                        <a:defRPr sz="1050">
                          <a:solidFill>
                            <a:srgbClr val="0F172A"/>
                          </a:solidFill>
                          <a:latin typeface="Arial"/>
                        </a:defRPr>
                      </a:pPr>
                      <a:r>
                        <a:t>Observed dynamic token issuance</a:t>
                      </a:r>
                    </a:p>
                  </a:txBody>
                  <a:tcPr>
                    <a:solidFill>
                      <a:srgbClr val="FFFFFF"/>
                    </a:solidFill>
                  </a:tcPr>
                </a:tc>
                <a:tc>
                  <a:txBody>
                    <a:bodyPr/>
                    <a:lstStyle/>
                    <a:p>
                      <a:pPr>
                        <a:defRPr sz="1050">
                          <a:solidFill>
                            <a:srgbClr val="0F172A"/>
                          </a:solidFill>
                          <a:latin typeface="Arial"/>
                        </a:defRPr>
                      </a:pPr>
                      <a:r>
                        <a:t>Potential session hijacking if entropy is predictable</a:t>
                      </a:r>
                    </a:p>
                  </a:txBody>
                  <a:tcPr>
                    <a:solidFill>
                      <a:srgbClr val="FFFFFF"/>
                    </a:solidFill>
                  </a:tcPr>
                </a:tc>
                <a:tc>
                  <a:txBody>
                    <a:bodyPr/>
                    <a:lstStyle/>
                    <a:p>
                      <a:pPr>
                        <a:defRPr sz="1050" b="1">
                          <a:solidFill>
                            <a:srgbClr val="2563EB"/>
                          </a:solidFill>
                          <a:latin typeface="Arial"/>
                        </a:defRPr>
                      </a:pPr>
                      <a:r>
                        <a:t>NEEDS VALIDATION</a:t>
                      </a:r>
                    </a:p>
                  </a:txBody>
                  <a:tcPr>
                    <a:solidFill>
                      <a:srgbClr val="FFFFFF"/>
                    </a:solidFill>
                  </a:tcPr>
                </a:tc>
              </a:tr>
              <a:tr h="932688">
                <a:tc>
                  <a:txBody>
                    <a:bodyPr/>
                    <a:lstStyle/>
                    <a:p>
                      <a:pPr>
                        <a:defRPr sz="1050">
                          <a:solidFill>
                            <a:srgbClr val="0F172A"/>
                          </a:solidFill>
                          <a:latin typeface="Arial"/>
                        </a:defRPr>
                      </a:pPr>
                      <a:r>
                        <a:t>Invalid Identifier Query (id=999)</a:t>
                      </a:r>
                    </a:p>
                  </a:txBody>
                  <a:tcPr>
                    <a:solidFill>
                      <a:srgbClr val="F8FAFC"/>
                    </a:solidFill>
                  </a:tcPr>
                </a:tc>
                <a:tc>
                  <a:txBody>
                    <a:bodyPr/>
                    <a:lstStyle/>
                    <a:p>
                      <a:pPr>
                        <a:defRPr sz="1050">
                          <a:solidFill>
                            <a:srgbClr val="0F172A"/>
                          </a:solidFill>
                          <a:latin typeface="Arial"/>
                        </a:defRPr>
                      </a:pPr>
                      <a:r>
                        <a:t>Observed normal 200 OK lookup</a:t>
                      </a:r>
                    </a:p>
                  </a:txBody>
                  <a:tcPr>
                    <a:solidFill>
                      <a:srgbClr val="F8FAFC"/>
                    </a:solidFill>
                  </a:tcPr>
                </a:tc>
                <a:tc>
                  <a:txBody>
                    <a:bodyPr/>
                    <a:lstStyle/>
                    <a:p>
                      <a:pPr>
                        <a:defRPr sz="1050">
                          <a:solidFill>
                            <a:srgbClr val="0F172A"/>
                          </a:solidFill>
                          <a:latin typeface="Arial"/>
                        </a:defRPr>
                      </a:pPr>
                      <a:r>
                        <a:t>No vulnerability established (expected system behavior)</a:t>
                      </a:r>
                    </a:p>
                  </a:txBody>
                  <a:tcPr>
                    <a:solidFill>
                      <a:srgbClr val="F8FAFC"/>
                    </a:solidFill>
                  </a:tcPr>
                </a:tc>
                <a:tc>
                  <a:txBody>
                    <a:bodyPr/>
                    <a:lstStyle/>
                    <a:p>
                      <a:pPr>
                        <a:defRPr sz="1050" b="1">
                          <a:solidFill>
                            <a:srgbClr val="2563EB"/>
                          </a:solidFill>
                          <a:latin typeface="Arial"/>
                        </a:defRPr>
                      </a:pPr>
                      <a:r>
                        <a:t>INFORMATIONAL</a:t>
                      </a:r>
                    </a:p>
                  </a:txBody>
                  <a:tcPr>
                    <a:solidFill>
                      <a:srgbClr val="F8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Attack-Chain Analysis &amp; Test Sequence</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728655" cy="1280160"/>
          </a:xfrm>
          <a:prstGeom prst="roundRect">
            <a:avLst/>
          </a:prstGeom>
          <a:solidFill>
            <a:srgbClr val="EB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500" b="1">
                <a:solidFill>
                  <a:srgbClr val="2563EB"/>
                </a:solidFill>
                <a:latin typeface="Georgia"/>
              </a:defRPr>
            </a:pPr>
            <a:r>
              <a:t>Multi-Stage Attack Chain Status: Standalone Findings</a:t>
            </a:r>
          </a:p>
          <a:p>
            <a:pPr>
              <a:defRPr sz="1050">
                <a:solidFill>
                  <a:srgbClr val="0F172A"/>
                </a:solidFill>
              </a:defRPr>
            </a:pPr>
            <a:r>
              <a:t>The captured evidence does NOT establish a connected multi-stage exploit chain. The SQL injection vulnerability exists as an isolated finding. Authentication GET parameter exposure and session cookie behavior are separate design observations that are not linked to database exploitation.</a:t>
            </a:r>
          </a:p>
        </p:txBody>
      </p:sp>
      <p:sp>
        <p:nvSpPr>
          <p:cNvPr id="6" name="Rounded Rectangle 5"/>
          <p:cNvSpPr/>
          <p:nvPr/>
        </p:nvSpPr>
        <p:spPr>
          <a:xfrm>
            <a:off x="731520" y="2926080"/>
            <a:ext cx="256032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400" b="1">
                <a:solidFill>
                  <a:srgbClr val="2563EB"/>
                </a:solidFill>
                <a:latin typeface="Georgia"/>
              </a:defRPr>
            </a:pPr>
            <a:r>
              <a:t>Step 1: Mapping</a:t>
            </a:r>
          </a:p>
          <a:p>
            <a:pPr>
              <a:defRPr sz="1050">
                <a:solidFill>
                  <a:srgbClr val="475569"/>
                </a:solidFill>
              </a:defRPr>
            </a:pPr>
            <a:r>
              <a:t>Enumerate routes &amp; capture baseline traffic in Burp Proxy.</a:t>
            </a:r>
          </a:p>
        </p:txBody>
      </p:sp>
      <p:sp>
        <p:nvSpPr>
          <p:cNvPr id="7" name="Rounded Rectangle 6"/>
          <p:cNvSpPr/>
          <p:nvPr/>
        </p:nvSpPr>
        <p:spPr>
          <a:xfrm>
            <a:off x="3456432" y="2926080"/>
            <a:ext cx="256032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400" b="1">
                <a:solidFill>
                  <a:srgbClr val="2563EB"/>
                </a:solidFill>
                <a:latin typeface="Georgia"/>
              </a:defRPr>
            </a:pPr>
            <a:r>
              <a:t>Step 2: Isolation</a:t>
            </a:r>
          </a:p>
          <a:p>
            <a:pPr>
              <a:defRPr sz="1050">
                <a:solidFill>
                  <a:srgbClr val="475569"/>
                </a:solidFill>
              </a:defRPr>
            </a:pPr>
            <a:r>
              <a:t>Send request to Burp Repeater &amp; manipulate 'id' parameter.</a:t>
            </a:r>
          </a:p>
        </p:txBody>
      </p:sp>
      <p:sp>
        <p:nvSpPr>
          <p:cNvPr id="8" name="Rounded Rectangle 7"/>
          <p:cNvSpPr/>
          <p:nvPr/>
        </p:nvSpPr>
        <p:spPr>
          <a:xfrm>
            <a:off x="6181344" y="2926080"/>
            <a:ext cx="256032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400" b="1">
                <a:solidFill>
                  <a:srgbClr val="2563EB"/>
                </a:solidFill>
                <a:latin typeface="Georgia"/>
              </a:defRPr>
            </a:pPr>
            <a:r>
              <a:t>Step 3: Execution</a:t>
            </a:r>
          </a:p>
          <a:p>
            <a:pPr>
              <a:defRPr sz="1050">
                <a:solidFill>
                  <a:srgbClr val="475569"/>
                </a:solidFill>
              </a:defRPr>
            </a:pPr>
            <a:r>
              <a:t>Submit '2 OR 1=1' payload to bypass SQL query logic.</a:t>
            </a:r>
          </a:p>
        </p:txBody>
      </p:sp>
      <p:sp>
        <p:nvSpPr>
          <p:cNvPr id="9" name="Rounded Rectangle 8"/>
          <p:cNvSpPr/>
          <p:nvPr/>
        </p:nvSpPr>
        <p:spPr>
          <a:xfrm>
            <a:off x="8906256" y="2926080"/>
            <a:ext cx="256032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400" b="1">
                <a:solidFill>
                  <a:srgbClr val="2563EB"/>
                </a:solidFill>
                <a:latin typeface="Georgia"/>
              </a:defRPr>
            </a:pPr>
            <a:r>
              <a:t>Step 4: Verification</a:t>
            </a:r>
          </a:p>
          <a:p>
            <a:pPr>
              <a:defRPr sz="1050">
                <a:solidFill>
                  <a:srgbClr val="475569"/>
                </a:solidFill>
              </a:defRPr>
            </a:pPr>
            <a:r>
              <a:t>Disclose 5 user records &amp; log separate design observations.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Targeted Remediation Recommendations &amp; Defense</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4591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500" b="1">
                <a:solidFill>
                  <a:srgbClr val="2563EB"/>
                </a:solidFill>
                <a:latin typeface="Georgia"/>
              </a:defRPr>
            </a:pPr>
            <a:r>
              <a:t>Database Security (SQLi)</a:t>
            </a:r>
          </a:p>
          <a:p>
            <a:pPr>
              <a:spcAft>
                <a:spcPts val="1000"/>
              </a:spcAft>
              <a:defRPr sz="1050">
                <a:solidFill>
                  <a:srgbClr val="0F172A"/>
                </a:solidFill>
              </a:defRPr>
            </a:pPr>
            <a:r>
              <a:t>• Implement Parameterized Prepared Statements to decouple SQL logic from user input.</a:t>
            </a:r>
          </a:p>
          <a:p>
            <a:pPr>
              <a:spcAft>
                <a:spcPts val="1000"/>
              </a:spcAft>
              <a:defRPr sz="1050">
                <a:solidFill>
                  <a:srgbClr val="0F172A"/>
                </a:solidFill>
              </a:defRPr>
            </a:pPr>
            <a:r>
              <a:t>• Enforce strict server-side integer type validation on all 'id' parameters.</a:t>
            </a:r>
          </a:p>
          <a:p>
            <a:pPr>
              <a:spcAft>
                <a:spcPts val="1000"/>
              </a:spcAft>
              <a:defRPr sz="1050">
                <a:solidFill>
                  <a:srgbClr val="0F172A"/>
                </a:solidFill>
              </a:defRPr>
            </a:pPr>
            <a:r>
              <a:t>• Apply least-privilege database user permissions.</a:t>
            </a:r>
          </a:p>
        </p:txBody>
      </p:sp>
      <p:sp>
        <p:nvSpPr>
          <p:cNvPr id="6" name="Rounded Rectangle 5"/>
          <p:cNvSpPr/>
          <p:nvPr/>
        </p:nvSpPr>
        <p:spPr>
          <a:xfrm>
            <a:off x="4370832" y="1463040"/>
            <a:ext cx="34591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500" b="1">
                <a:solidFill>
                  <a:srgbClr val="2563EB"/>
                </a:solidFill>
                <a:latin typeface="Georgia"/>
              </a:defRPr>
            </a:pPr>
            <a:r>
              <a:t>Authentication Hardening</a:t>
            </a:r>
          </a:p>
          <a:p>
            <a:pPr>
              <a:spcAft>
                <a:spcPts val="1000"/>
              </a:spcAft>
              <a:defRPr sz="1050">
                <a:solidFill>
                  <a:srgbClr val="0F172A"/>
                </a:solidFill>
              </a:defRPr>
            </a:pPr>
            <a:r>
              <a:t>• Submit credentials strictly via HTTP POST bodies over TLS/HTTPS encryption.</a:t>
            </a:r>
          </a:p>
          <a:p>
            <a:pPr>
              <a:spcAft>
                <a:spcPts val="1000"/>
              </a:spcAft>
              <a:defRPr sz="1050">
                <a:solidFill>
                  <a:srgbClr val="0F172A"/>
                </a:solidFill>
              </a:defRPr>
            </a:pPr>
            <a:r>
              <a:t>• Enforce login rate-limiting, account lockout thresholds, and generic error messages.</a:t>
            </a:r>
          </a:p>
          <a:p>
            <a:pPr>
              <a:spcAft>
                <a:spcPts val="1000"/>
              </a:spcAft>
              <a:defRPr sz="1050">
                <a:solidFill>
                  <a:srgbClr val="0F172A"/>
                </a:solidFill>
              </a:defRPr>
            </a:pPr>
            <a:r>
              <a:t>• Eliminate credential logging in web server access logs.</a:t>
            </a:r>
          </a:p>
        </p:txBody>
      </p:sp>
      <p:sp>
        <p:nvSpPr>
          <p:cNvPr id="7" name="Rounded Rectangle 6"/>
          <p:cNvSpPr/>
          <p:nvPr/>
        </p:nvSpPr>
        <p:spPr>
          <a:xfrm>
            <a:off x="8010144" y="1463040"/>
            <a:ext cx="345917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500" b="1">
                <a:solidFill>
                  <a:srgbClr val="2563EB"/>
                </a:solidFill>
                <a:latin typeface="Georgia"/>
              </a:defRPr>
            </a:pPr>
            <a:r>
              <a:t>Session Management</a:t>
            </a:r>
          </a:p>
          <a:p>
            <a:pPr>
              <a:spcAft>
                <a:spcPts val="1000"/>
              </a:spcAft>
              <a:defRPr sz="1050">
                <a:solidFill>
                  <a:srgbClr val="0F172A"/>
                </a:solidFill>
              </a:defRPr>
            </a:pPr>
            <a:r>
              <a:t>• Generate session tokens using Cryptographically Secure Pseudorandom Number Generators (CSPRNG).</a:t>
            </a:r>
          </a:p>
          <a:p>
            <a:pPr>
              <a:spcAft>
                <a:spcPts val="1000"/>
              </a:spcAft>
              <a:defRPr sz="1050">
                <a:solidFill>
                  <a:srgbClr val="0F172A"/>
                </a:solidFill>
              </a:defRPr>
            </a:pPr>
            <a:r>
              <a:t>• Enforce HttpOnly, Secure, and SameSite cookie attributes.</a:t>
            </a:r>
          </a:p>
          <a:p>
            <a:pPr>
              <a:spcAft>
                <a:spcPts val="1000"/>
              </a:spcAft>
              <a:defRPr sz="1050">
                <a:solidFill>
                  <a:srgbClr val="0F172A"/>
                </a:solidFill>
              </a:defRPr>
            </a:pPr>
            <a:r>
              <a:t>• Rotate session tokens post-authentication and enforce proper server-side invalidation.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000" b="1">
                <a:solidFill>
                  <a:srgbClr val="2563EB"/>
                </a:solidFill>
                <a:latin typeface="Arial"/>
              </a:defRPr>
            </a:pPr>
            <a:r>
              <a:t>WEEK 8 – ADVANCED VAPT | DG INTERNS HUB</a:t>
            </a:r>
          </a:p>
        </p:txBody>
      </p:sp>
      <p:sp>
        <p:nvSpPr>
          <p:cNvPr id="3" name="TextBox 2"/>
          <p:cNvSpPr txBox="1"/>
          <p:nvPr/>
        </p:nvSpPr>
        <p:spPr>
          <a:xfrm>
            <a:off x="731520" y="685800"/>
            <a:ext cx="10728655" cy="548640"/>
          </a:xfrm>
          <a:prstGeom prst="rect">
            <a:avLst/>
          </a:prstGeom>
          <a:noFill/>
        </p:spPr>
        <p:txBody>
          <a:bodyPr wrap="square" lIns="0" tIns="0" rIns="0" bIns="0">
            <a:spAutoFit/>
          </a:bodyPr>
          <a:lstStyle/>
          <a:p>
            <a:pPr>
              <a:defRPr sz="2200" b="1">
                <a:solidFill>
                  <a:srgbClr val="0F172A"/>
                </a:solidFill>
                <a:latin typeface="Georgia"/>
              </a:defRPr>
            </a:pPr>
            <a:r>
              <a:t>Conclusion &amp; Key Internship Learnings</a:t>
            </a:r>
          </a:p>
        </p:txBody>
      </p:sp>
      <p:sp>
        <p:nvSpPr>
          <p:cNvPr id="4" name="Rectangle 3"/>
          <p:cNvSpPr/>
          <p:nvPr/>
        </p:nvSpPr>
        <p:spPr>
          <a:xfrm>
            <a:off x="731520" y="1280160"/>
            <a:ext cx="10728655"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7286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600"/>
              </a:spcAft>
              <a:defRPr sz="1800" b="1">
                <a:solidFill>
                  <a:srgbClr val="0F172A"/>
                </a:solidFill>
                <a:latin typeface="Georgia"/>
              </a:defRPr>
            </a:pPr>
            <a:r>
              <a:t>Key Takeaways from Advanced VAPT Module</a:t>
            </a:r>
          </a:p>
          <a:p>
            <a:pPr>
              <a:spcAft>
                <a:spcPts val="1400"/>
              </a:spcAft>
            </a:pPr>
            <a:r>
              <a:rPr b="1" sz="1200">
                <a:solidFill>
                  <a:srgbClr val="2563EB"/>
                </a:solidFill>
              </a:rPr>
              <a:t>• Methodological Rigor:</a:t>
            </a:r>
            <a:r>
              <a:rPr sz="1150">
                <a:solidFill>
                  <a:srgbClr val="0F172A"/>
                </a:solidFill>
              </a:rPr>
              <a:t> Combining route mapping with Burp Repeater parameter manipulation allows precise, reproducible validation of web application vulnerability logic.</a:t>
            </a:r>
          </a:p>
          <a:p>
            <a:pPr>
              <a:spcAft>
                <a:spcPts val="1400"/>
              </a:spcAft>
            </a:pPr>
            <a:r>
              <a:rPr b="1" sz="1200">
                <a:solidFill>
                  <a:srgbClr val="2563EB"/>
                </a:solidFill>
              </a:rPr>
              <a:t>• Root Cause Insight:</a:t>
            </a:r>
            <a:r>
              <a:rPr sz="1150">
                <a:solidFill>
                  <a:srgbClr val="0F172A"/>
                </a:solidFill>
              </a:rPr>
              <a:t> Inadequate server-side input validation and dynamic SQL string concatenation remain the primary drivers of critical web application security risks.</a:t>
            </a:r>
          </a:p>
          <a:p>
            <a:pPr>
              <a:spcAft>
                <a:spcPts val="1400"/>
              </a:spcAft>
            </a:pPr>
            <a:r>
              <a:rPr b="1" sz="1200">
                <a:solidFill>
                  <a:srgbClr val="2563EB"/>
                </a:solidFill>
              </a:rPr>
              <a:t>• Evidence-Grounded Reporting:</a:t>
            </a:r>
            <a:r>
              <a:rPr sz="1150">
                <a:solidFill>
                  <a:srgbClr val="0F172A"/>
                </a:solidFill>
              </a:rPr>
              <a:t> Professional security assessments must strictly differentiate confirmed vulnerabilities from design observations, avoiding unverified claims of exploitability.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