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  <a:latin typeface="Verdana"/>
              </a:defRPr>
            </a:pPr>
            <a:r>
              <a:t>DG INTERNS HUB — CYBERSECURITY INTERNSHIP PROGRAM</a:t>
            </a:r>
          </a:p>
          <a:p>
            <a:pPr>
              <a:spcAft>
                <a:spcPts val="1500"/>
              </a:spcAft>
              <a:defRPr sz="2800" b="1">
                <a:solidFill>
                  <a:srgbClr val="F8FAFC"/>
                </a:solidFill>
                <a:latin typeface="Georgia"/>
              </a:defRPr>
            </a:pPr>
            <a:r>
              <a:t>Week 3: Advanced Network Security Assessment &amp;</a:t>
            </a:r>
            <a:br/>
            <a:r>
              <a:t>Traffic Investigation Report</a:t>
            </a:r>
          </a:p>
          <a:p>
            <a:pPr>
              <a:defRPr sz="1300">
                <a:solidFill>
                  <a:srgbClr val="94A3B8"/>
                </a:solidFill>
                <a:latin typeface="Verdana"/>
              </a:defRPr>
            </a:pPr>
            <a:r>
              <a:t>Prepared By: Prakhar Gupta (Cybersecurity Intern)   |   Submission Date: 21/Sept/2026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931920"/>
            <a:ext cx="34134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Verdana"/>
              </a:defRPr>
            </a:pPr>
            <a:r>
              <a:t>TARGET HOST SCOPE</a:t>
            </a:r>
          </a:p>
          <a:p>
            <a:pPr>
              <a:defRPr sz="1200">
                <a:solidFill>
                  <a:srgbClr val="F8FAFC"/>
                </a:solidFill>
                <a:latin typeface="Verdana"/>
              </a:defRPr>
            </a:pPr>
            <a:r>
              <a:t>IP: 192.168.1.10</a:t>
            </a:r>
            <a:br/>
            <a:r>
              <a:t>MAC: 9C:C7:D3:2D:94:B8</a:t>
            </a:r>
            <a:br/>
            <a:r>
              <a:t>OS: Windows (10/11 Build)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3931920"/>
            <a:ext cx="34134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22C55E"/>
                </a:solidFill>
                <a:latin typeface="Verdana"/>
              </a:defRPr>
            </a:pPr>
            <a:r>
              <a:t>ANALYST VANTAGE</a:t>
            </a:r>
          </a:p>
          <a:p>
            <a:pPr>
              <a:defRPr sz="1200">
                <a:solidFill>
                  <a:srgbClr val="F8FAFC"/>
                </a:solidFill>
                <a:latin typeface="Verdana"/>
              </a:defRPr>
            </a:pPr>
            <a:r>
              <a:t>Kali Linux 2025.3 VM</a:t>
            </a:r>
            <a:br/>
            <a:r>
              <a:t>Tools: Nmap 7.95, Wireshark</a:t>
            </a:r>
            <a:br/>
            <a:r>
              <a:t>Net: 192.168.1.0/24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931920"/>
            <a:ext cx="34134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  <a:latin typeface="Verdana"/>
              </a:defRPr>
            </a:pPr>
            <a:r>
              <a:t>LAB ENVIRONMENT</a:t>
            </a:r>
          </a:p>
          <a:p>
            <a:pPr>
              <a:defRPr sz="1200">
                <a:solidFill>
                  <a:srgbClr val="F8FAFC"/>
                </a:solidFill>
                <a:latin typeface="Verdana"/>
              </a:defRPr>
            </a:pPr>
            <a:r>
              <a:t>VirtualBox Isolated Segment</a:t>
            </a:r>
            <a:br/>
            <a:r>
              <a:t>Gateway: 192.168.1.1</a:t>
            </a:r>
            <a:br/>
            <a:r>
              <a:t>Scope: Authorized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CYBERSECURITY INTERNSHIP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Assessment Objectives &amp; Methodology Workflow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Verdana"/>
              </a:defRPr>
            </a:pPr>
            <a:r>
              <a:t>SECURITY LIFECYCLE:  Discover  ➔  Enumerate  ➔  Analyze  ➔  Assess  ➔  Harden  ➔ 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9496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2C55E"/>
                </a:solidFill>
                <a:latin typeface="Verdana"/>
              </a:defRPr>
            </a:pPr>
            <a:r>
              <a:t>CORE ASSESSMENT OBJECTIVES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• Discover authorized hosts on 192.168.1.0/24 local subnet.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• Perform multi-layered Nmap scans (version, OS, SYN, UDP, NSE).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• Capture live traffic with Wireshark (DNS, ARP, ICMP, TCP/TLS).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• Correlate Nmap scanning activity with on-the-wire packet captures.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• Identify security findings supported strictly by packet evidence.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• Apply netsh Windows Firewall hardening &amp; evaluate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377440"/>
            <a:ext cx="539496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F59E0B"/>
                </a:solidFill>
                <a:latin typeface="Verdana"/>
              </a:defRPr>
            </a:pPr>
            <a:r>
              <a:t>THE EVIDENCE DEMONSTRATION CHAIN</a:t>
            </a:r>
          </a:p>
          <a:p>
            <a:pPr>
              <a:spcAft>
                <a:spcPts val="500"/>
              </a:spcAft>
              <a:defRPr sz="1100" b="1">
                <a:solidFill>
                  <a:srgbClr val="38BDF8"/>
                </a:solidFill>
                <a:latin typeface="Verdana"/>
              </a:defRPr>
            </a:pPr>
            <a:r>
              <a:t>EVIDENCE: Wireshark captures &amp; raw Nmap console logs</a:t>
            </a:r>
          </a:p>
          <a:p>
            <a:pPr>
              <a:spcAft>
                <a:spcPts val="500"/>
              </a:spcAft>
              <a:defRPr sz="1100" b="1">
                <a:solidFill>
                  <a:srgbClr val="38BDF8"/>
                </a:solidFill>
                <a:latin typeface="Verdana"/>
              </a:defRPr>
            </a:pPr>
            <a:r>
              <a:t>ANALYSIS: Cross-vantage point comparison (External vs Local)</a:t>
            </a:r>
          </a:p>
          <a:p>
            <a:pPr>
              <a:spcAft>
                <a:spcPts val="500"/>
              </a:spcAft>
              <a:defRPr sz="1100" b="1">
                <a:solidFill>
                  <a:srgbClr val="EF4444"/>
                </a:solidFill>
                <a:latin typeface="Verdana"/>
              </a:defRPr>
            </a:pPr>
            <a:r>
              <a:t>FINDING: Discovered 7 exposed services &amp; Slowloris DoS risk</a:t>
            </a:r>
          </a:p>
          <a:p>
            <a:pPr>
              <a:spcAft>
                <a:spcPts val="500"/>
              </a:spcAft>
              <a:defRPr sz="1100" b="1">
                <a:solidFill>
                  <a:srgbClr val="EF4444"/>
                </a:solidFill>
                <a:latin typeface="Verdana"/>
              </a:defRPr>
            </a:pPr>
            <a:r>
              <a:t>RISK: CVE-2007-6750 exposure &amp; unauthenticated admin ports</a:t>
            </a:r>
          </a:p>
          <a:p>
            <a:pPr>
              <a:spcAft>
                <a:spcPts val="500"/>
              </a:spcAft>
              <a:defRPr sz="1100" b="1">
                <a:solidFill>
                  <a:srgbClr val="22C55E"/>
                </a:solidFill>
                <a:latin typeface="Verdana"/>
              </a:defRPr>
            </a:pPr>
            <a:r>
              <a:t>HARDENING: Windows netsh advfirewall inbound block rules</a:t>
            </a:r>
          </a:p>
          <a:p>
            <a:pPr>
              <a:spcAft>
                <a:spcPts val="500"/>
              </a:spcAft>
              <a:defRPr sz="1100" b="1">
                <a:solidFill>
                  <a:srgbClr val="22C55E"/>
                </a:solidFill>
                <a:latin typeface="Verdana"/>
              </a:defRPr>
            </a:pPr>
            <a:r>
              <a:t>VERIFICATION: Post-hardening local scan &amp; stack bypass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CYBERSECURITY INTERNSHIP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VirtualBox Isolated Lab Architecture &amp; Network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  <a:latin typeface="Verdana"/>
              </a:defRPr>
            </a:pPr>
            <a:r>
              <a:t>LAB ENVIRONMENT COMPONENTS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Analyst OS: </a:t>
            </a:r>
            <a:r>
              <a:rPr b="0">
                <a:solidFill>
                  <a:srgbClr val="94A3B8"/>
                </a:solidFill>
              </a:rPr>
              <a:t>Kali Linux 2025.3 (VirtualBox Guest)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Analyst Tools: </a:t>
            </a:r>
            <a:r>
              <a:rPr b="0">
                <a:solidFill>
                  <a:srgbClr val="94A3B8"/>
                </a:solidFill>
              </a:rPr>
              <a:t>Nmap 7.95 (Kali), Wireshark 4.x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Target Host: </a:t>
            </a:r>
            <a:r>
              <a:rPr b="0">
                <a:solidFill>
                  <a:srgbClr val="94A3B8"/>
                </a:solidFill>
              </a:rPr>
              <a:t>192.168.1.10 — Windows Target Host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Target MAC: </a:t>
            </a:r>
            <a:r>
              <a:rPr b="0">
                <a:solidFill>
                  <a:srgbClr val="94A3B8"/>
                </a:solidFill>
              </a:rPr>
              <a:t>9C:C7:D3:2D:94:B8 (Verified via ARP/Nmap)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Target Local Tools: </a:t>
            </a:r>
            <a:r>
              <a:rPr b="0">
                <a:solidFill>
                  <a:srgbClr val="94A3B8"/>
                </a:solidFill>
              </a:rPr>
              <a:t>Nmap 7.98 (Windows Command Prompt)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Default Gateway: </a:t>
            </a:r>
            <a:r>
              <a:rPr b="0">
                <a:solidFill>
                  <a:srgbClr val="94A3B8"/>
                </a:solidFill>
              </a:rPr>
              <a:t>192.168.1.1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Verdana"/>
              </a:defRPr>
            </a:pPr>
            <a:r>
              <a:t>• Subnet Scope: </a:t>
            </a:r>
            <a:r>
              <a:rPr b="0">
                <a:solidFill>
                  <a:srgbClr val="94A3B8"/>
                </a:solidFill>
              </a:rPr>
              <a:t>192.168.1.0/24 (IPv4/IPv6 Dual-Stack)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3949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2C55E"/>
                </a:solidFill>
                <a:latin typeface="Verdana"/>
              </a:defRPr>
            </a:pPr>
            <a:r>
              <a:t>NETWORK TOPOLOGY &amp; BROADCAST DOMAIN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✔  Single Local Subnet: All test systems reside on 192.168.1.0/24.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✔  Shared Broadcast Domain: Wireshark ARP captures recorded active neighboring hosts on the same segment (e.g., 192.168.1.74, 192.168.1.100, 192.168.1.57).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✔  Direct L2 Communication: Target answered ARP probes directly with MAC 9C:C7:D3:2D:94:B8.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Verdana"/>
              </a:defRPr>
            </a:pPr>
            <a:r>
              <a:t>✔  Perimeter Filtering: Internal host firewall filters external inbound probes while allowing full local binding.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TASK 7 &amp; TASK 8 SCAN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Nmap Assessment: External Scan vs Local Target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7548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Verdana"/>
              </a:defRPr>
            </a:pPr>
            <a:r>
              <a:t>MULTI-VANTAGE DISCOVERY</a:t>
            </a:r>
          </a:p>
          <a:p>
            <a:pPr>
              <a:defRPr sz="1100" b="1">
                <a:solidFill>
                  <a:srgbClr val="F59E0B"/>
                </a:solidFill>
                <a:latin typeface="Verdana"/>
              </a:defRPr>
            </a:pPr>
            <a:r>
              <a:t>External Scan (Kali Nmap 7.95)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Verdana"/>
              </a:defRPr>
            </a:pPr>
            <a:r>
              <a:t>• nmap -Pn 192.168.1.10: Host UP (8.14s), 4899/tcp OPEN (radmin), 999 ports FILTERED.</a:t>
            </a:r>
            <a:br/>
            <a:r>
              <a:t>• nmap -sV -Pn: Confirmed Famatech Radmin 3.0 (13.95s).</a:t>
            </a:r>
            <a:br/>
            <a:r>
              <a:t>• nmap -sS: Stealth scan matches (17.25s).</a:t>
            </a:r>
            <a:br/>
            <a:r>
              <a:t>• nmap -sU --top-ports 20: All 20 ports open|filtered due to ICMP rate limiting.</a:t>
            </a:r>
          </a:p>
          <a:p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Local Target Scan (Nmap 7.98)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Verdana"/>
              </a:defRPr>
            </a:pPr>
            <a:r>
              <a:t>• nmap -sS 192.168.1.10 (Local Cmd): Discovered 7 OPEN PORTS in 1.17s:</a:t>
            </a:r>
            <a:br/>
            <a:r>
              <a:t>  135 (MSRPC), 139 (NetBIOS), 445 (SMB),</a:t>
            </a:r>
            <a:br/>
            <a:r>
              <a:t>  4899 (Radmin), 5432 (PostgreSQL),</a:t>
            </a:r>
            <a:br/>
            <a:r>
              <a:t>  8000 (Splunk HTTP), 8089 (Splunk HTTPS).</a:t>
            </a:r>
          </a:p>
        </p:txBody>
      </p:sp>
      <p:pic>
        <p:nvPicPr>
          <p:cNvPr id="6" name="Picture 5" descr="evidence_nmap_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430829"/>
          </a:xfrm>
          <a:prstGeom prst="rect">
            <a:avLst/>
          </a:prstGeom>
        </p:spPr>
      </p:pic>
      <p:pic>
        <p:nvPicPr>
          <p:cNvPr id="7" name="Picture 6" descr="evidence_nmap_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931920"/>
            <a:ext cx="6126480" cy="3430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TASK 9 WIRESHARK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Wireshark Live Capture &amp; Multi-Protocol Traffic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Verdana"/>
              </a:defRPr>
            </a:pPr>
            <a:r>
              <a:t>CAPTURED PROTOCOL SUMMARIES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DNS Captures: Reverse PTR lookup 10.1.168.192.in-addr.arpa -&gt; 192.168.1.10. Extended captures recorded telemetry (v10.events.data.microsoft.com), MS Clarity (r.clarity.ms), Google, Nessus plugins, and ChatGPT.</a:t>
            </a:r>
            <a:br/>
            <a:r>
              <a:t>• ICMP &amp; ARP Traffic: Ping echo requests/replies to gateway 192.168.1.1 (TTL=128/64). Gateway ARP probe for .10 answered directly with MAC 9C:C7:D3:2D:94:B8.</a:t>
            </a:r>
          </a:p>
        </p:txBody>
      </p:sp>
      <p:pic>
        <p:nvPicPr>
          <p:cNvPr id="6" name="Picture 5" descr="evidence_wireshark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11094415" cy="6212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TASK 10 &amp; 11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Nmap Scan Correlation &amp; Unexplained Traffic Event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693615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Nmap Observed 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Wireshark On-the-Wire Evidence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Security Interpretation &amp; Finding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External Scan: 4899 Open, 999 Filtered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No SYN/ACK received for 999 filtered ports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Firewall filtering inbound probes from external vantage point.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Local Scan: 7 Ports Open (1.17s)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SYN probes answered immediately on loopback/stack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Services are bound and listening; local scan bypasses perimeter filter.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Outbound HTTPS Active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tcp.flags.syn==1 &amp;&amp; tcp.flags.ack==1 matched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Target host's outbound connectivity &amp; TLS handshakes operating normally.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840480"/>
            <a:ext cx="53949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Verdana"/>
              </a:defRPr>
            </a:pPr>
            <a:r>
              <a:t>EVENT 1: OUTBOUND CONNECTION ATTEMPT REFUSED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Traffic: Target (192.168.1.10) sent TCP SYN from reused ephemeral ports 49282/49284 to 192.168.1.100:1514/1515.</a:t>
            </a:r>
            <a:br/>
            <a:r>
              <a:t>• Response: Destination immediately answered with RST, ACK.</a:t>
            </a:r>
            <a:br/>
            <a:r>
              <a:t>• Analysis: Target initiated connections to a non-standard collector/syslog port on a peer host, which actively refused.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3840480"/>
            <a:ext cx="53949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EVENT 2: UNANSWERED INBOUND PROBE ON PORT 7680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Traffic: Neighboring host (192.168.1.74) sent TCP SYN to Target (192.168.1.10) port 7680 (Windows Connect/Miracast).</a:t>
            </a:r>
            <a:br/>
            <a:r>
              <a:t>• Response: No response from target; retransmitted twice.</a:t>
            </a:r>
            <a:br/>
            <a:r>
              <a:t>• Analysis: External peer attempted wireless display connection; target host firewall dropped or ignored inbound probe.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TASK 12 FINDINGS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Security Assessment Findings &amp; Vulnerability Risk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7548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EF4444"/>
                </a:solidFill>
                <a:latin typeface="Verdana"/>
              </a:defRPr>
            </a:pPr>
            <a:r>
              <a:t>KEY VULNERABILITY FINDINGS</a:t>
            </a:r>
          </a:p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F-01: Splunk Slowloris DoS (CVE-2007-6750)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HIGH RISK — NSE http-slowloris-check marked port 8000 LIKELY VULNERABLE. Attacker can exhaust connection pool.</a:t>
            </a:r>
          </a:p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F-02: Radmin Remote Admin Exposed (4899)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MEDIUM RISK — Unrestricted remote administration listener increases brute-force &amp; credential attack surface.</a:t>
            </a:r>
          </a:p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F-03: PostgreSQL Database Exposed (5432)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MEDIUM RISK — PostgreSQL 9.6.0+ database engine directly reachable on general network segment.</a:t>
            </a:r>
          </a:p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F-04: External vs Local Port Discrepancy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LOW RISK — Local scan shows 7 services, external shows 1. Indicates reliance on host firewall filter.</a:t>
            </a:r>
          </a:p>
        </p:txBody>
      </p:sp>
      <p:pic>
        <p:nvPicPr>
          <p:cNvPr id="6" name="Picture 5" descr="evidence_nse_slowlo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430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TASK 13 HARDENING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Host Security Hardening: Windows Netsh Firewall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7548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22C55E"/>
                </a:solidFill>
                <a:latin typeface="Verdana"/>
              </a:defRPr>
            </a:pPr>
            <a:r>
              <a:t>EXECUTED HARDENING COMMANDS</a:t>
            </a:r>
          </a:p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Baseline Status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Scan confirmed 4899 (Radmin), 5432 (PostgreSQL), and 8000 (Splunk) OPEN prior to hardening.</a:t>
            </a:r>
          </a:p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Netsh Rules Created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• Block Radmin 4899: netsh advfirewall firewall add rule name="Block Radmin 4899" dir=in action=block protocol=TCP localport=4899</a:t>
            </a:r>
            <a:br/>
            <a:r>
              <a:t>• Block PostgreSQL 5432: localport=5432</a:t>
            </a:r>
            <a:br/>
            <a:r>
              <a:t>• Block HTTP 8000: localport=8000</a:t>
            </a:r>
          </a:p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Rule Verification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  <a:latin typeface="Verdana"/>
              </a:defRPr>
            </a:pPr>
            <a:r>
              <a:t>netsh advfirewall firewall show rule verified rules Active with Action: Block across Domain, Private, and Public profiles.</a:t>
            </a:r>
          </a:p>
        </p:txBody>
      </p:sp>
      <p:pic>
        <p:nvPicPr>
          <p:cNvPr id="6" name="Picture 5" descr="evidence_netsh_hard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4308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TASK 13 &amp; 14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Before vs. After Hardening Results &amp; Verification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3474720"/>
                <a:gridCol w="2011680"/>
                <a:gridCol w="2224735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Service / 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Before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Netsh Hardening Action Taken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After (Local Scan)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Verdana"/>
                        </a:defRPr>
                      </a:pPr>
                      <a:r>
                        <a:t>Firewall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Radmin (4899/TCP)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Verdana"/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Inbound Block Rule Added (All Profiles)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  <a:latin typeface="Verdana"/>
                        </a:defRPr>
                      </a:pPr>
                      <a:r>
                        <a:t>Reported Open*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ACTIVE / BLOCKED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PostgreSQL (5432/TCP)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Verdana"/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Inbound Block Rule Added (All Profiles)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  <a:latin typeface="Verdana"/>
                        </a:defRPr>
                      </a:pPr>
                      <a:r>
                        <a:t>Reported Open*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ACTIVE / BLOCKED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Splunk HTTP (8000/TCP)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Verdana"/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Inbound Block Rule Added (All Profiles)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  <a:latin typeface="Verdana"/>
                        </a:defRPr>
                      </a:pPr>
                      <a:r>
                        <a:t>Reported Open*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C55E"/>
                          </a:solidFill>
                          <a:latin typeface="Verdana"/>
                        </a:defRPr>
                      </a:pPr>
                      <a:r>
                        <a:t>ACTIVE / BLOCKED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566160"/>
            <a:ext cx="11094415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59E0B"/>
                </a:solidFill>
                <a:latin typeface="Verdana"/>
              </a:defRPr>
            </a:pPr>
            <a:r>
              <a:t>*TECHNICAL ANALYSIS OF LOCAL SCAN STACK BYPASS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Verdana"/>
              </a:defRPr>
            </a:pPr>
            <a:r>
              <a:t>• Verification Methodology Limitation: Post-hardening verification scans were executed locally on the target host targeting 192.168.1.10.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Verdana"/>
              </a:defRPr>
            </a:pPr>
            <a:r>
              <a:t>• Network Stack Bypass Effect: Packets generated by a host targeting its own local IP address traverse the OS loopback / internal socket layer and bypass inbound Windows Firewall filtering hooks entirely.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Verdana"/>
              </a:defRPr>
            </a:pPr>
            <a:r>
              <a:t>• Evidence Conclusion: While local scans continue to report ports open due to active service sockets, the netsh firewall rules are confirmed Active and Enabled for external inbound traffic.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Verdana"/>
              </a:defRPr>
            </a:pPr>
            <a:r>
              <a:t>• Post-Hardening Stability: Subsequent Wireshark DNS capture confirmed target network connectivity and DNS resolution remained fully operational with zero adverse 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Verdana"/>
              </a:defRPr>
            </a:pPr>
            <a:r>
              <a:t>SECTION 18 &amp; 20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Priority Security Recommendations &amp; Assessment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2179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Verdana"/>
              </a:defRPr>
            </a:pPr>
            <a:r>
              <a:t>Priority 1: External Firewall Re-Testing</a:t>
            </a:r>
          </a:p>
          <a:p>
            <a:pPr>
              <a:defRPr sz="950">
                <a:solidFill>
                  <a:srgbClr val="F8FAFC"/>
                </a:solidFill>
                <a:latin typeface="Verdana"/>
              </a:defRPr>
            </a:pPr>
            <a:r>
              <a:t>Re-test block rules (4899, 5432, 8000) from Kali VM to verify filtering on external network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62179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Verdana"/>
              </a:defRPr>
            </a:pPr>
            <a:r>
              <a:t>Priority 2: Splunk Slowloris Mitigation</a:t>
            </a:r>
          </a:p>
          <a:p>
            <a:pPr>
              <a:defRPr sz="950">
                <a:solidFill>
                  <a:srgbClr val="F8FAFC"/>
                </a:solidFill>
                <a:latin typeface="Verdana"/>
              </a:defRPr>
            </a:pPr>
            <a:r>
              <a:t>Deploy reverse proxy with connection timeouts, WAF, or vendor patch for CVE-2007-6750 on port 8000.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62179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Verdana"/>
              </a:defRPr>
            </a:pPr>
            <a:r>
              <a:t>Priority 3: VLAN/VPN Network Isolation</a:t>
            </a:r>
          </a:p>
          <a:p>
            <a:pPr>
              <a:defRPr sz="950">
                <a:solidFill>
                  <a:srgbClr val="F8FAFC"/>
                </a:solidFill>
                <a:latin typeface="Verdana"/>
              </a:defRPr>
            </a:pPr>
            <a:r>
              <a:t>Restrict Radmin (4899) and PostgreSQL (5432) to dedicated management VLAN/VPN with MFA.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62179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Verdana"/>
              </a:defRPr>
            </a:pPr>
            <a:r>
              <a:t>Priority 4: Firewall Rule Documentation</a:t>
            </a:r>
          </a:p>
          <a:p>
            <a:pPr>
              <a:defRPr sz="950">
                <a:solidFill>
                  <a:srgbClr val="F8FAFC"/>
                </a:solidFill>
                <a:latin typeface="Verdana"/>
              </a:defRPr>
            </a:pPr>
            <a:r>
              <a:t>Formally document perimeter firewall rules limiting external exposure to prevent silent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62179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Verdana"/>
              </a:defRPr>
            </a:pPr>
            <a:r>
              <a:t>Priority 5: Conclusive SMB Assessment</a:t>
            </a:r>
          </a:p>
          <a:p>
            <a:pPr>
              <a:defRPr sz="950">
                <a:solidFill>
                  <a:srgbClr val="F8FAFC"/>
                </a:solidFill>
                <a:latin typeface="Verdana"/>
              </a:defRPr>
            </a:pPr>
            <a:r>
              <a:t>Re-run SMB checks (ms10-061, cve-2012-1182) on port 445 with full protocol negotiation enabled.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371600"/>
            <a:ext cx="469361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2C55E"/>
                </a:solidFill>
                <a:latin typeface="Verdana"/>
              </a:defRPr>
            </a:pPr>
            <a:r>
              <a:t>ASSESSMENT CONCLUSION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✔  Full Security Lifecycle Achieved: Successfully completed discovery, multi-layered scanning, packet capture, correlation, assessment, and netsh hardening.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✔  Value of Multi-Vantage Scans: Comparing external vs local Nmap scans exposed a critical host filtering boundary that single vantage scans missed.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✔  Evidence-Grounded Posture: Identified Slowloris DoS risk on Splunk HTTP (CVE-2007-6750) and documented host firewall stack bypass behavior transparently.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✔  Final Submission Status: Complete, evidence-backed assessment ready for DG Interns Hub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