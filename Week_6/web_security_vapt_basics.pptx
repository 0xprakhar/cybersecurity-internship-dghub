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Week 6 VAPT Technical Presentation. Prepared by Prakhar Gupta, Cybersecurity Intern at DG Interns Hub. This assessment covers the end-to-end evaluation of web application security on DVWA, utilizing Burp Suite and OWASP ZAP.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covers Section 1 and Section 2 of the Week 6 report. Note the distinction between VA (automated discovery) and PT (active exploitation). The four selected OWASP vulnerabilities represent the focus of the laboratory exercises on DVWA.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details Section 3 of the report: Tools Used and Environment Setup Summary. Emphasize the isolation of the testing environment on localhost and the synergy between XAMPP, Firefox FoxyProxy, Burp Suite, and OWASP ZAP.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covers Section 4.1 and 4.2 of the report. Highlight the progression from baseline checks to payload execution for SQLi, and the critical distinction between Reflected (transient) and Stored (persistent server-side) XSS.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Section 4.3 of the report: Capturing Requests in Burp Suite. Explain how the proxy allows testers to inspect data passing over the wire, and how Repeater accelerates testing by allowing payload modifications without touching the browser UI.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covers Section 5 of the report: Automated Scan Using OWASP ZAP. Highlight the workflow from spidering to active scanning and report generation. Emphasize how automated scanning provides broad baseline coverage of an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consolidates findings from Section 6 of the report. Walk through the risk breakdown: 3 High vulnerabilities (SQLi, Reflected XSS, Stored XSS), 2 Medium vulnerabilities (Broken Auth, Misconfiguration), and 1 Low vulnerability (Missing Headers).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maps to Section 7 of the report: Mitigation Methods. Review the 4 core pillars of defense: Query parameterization for SQLi, context-aware output encoding and CSP for XSS, rate-limiting and salted hashing for Authentication, and baseline hardening.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concludes the presentation with Section 8 of the report. Summarize the complementary relationship between automated DAST and manual testing, and deliver the final intern sign-off.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822960"/>
            <a:ext cx="10728655"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728655" cy="2011680"/>
          </a:xfrm>
          <a:prstGeom prst="rect">
            <a:avLst/>
          </a:prstGeom>
          <a:noFill/>
        </p:spPr>
        <p:txBody>
          <a:bodyPr wrap="square">
            <a:spAutoFit/>
          </a:bodyPr>
          <a:lstStyle/>
          <a:p>
            <a:pPr>
              <a:defRPr sz="1300" b="1">
                <a:solidFill>
                  <a:srgbClr val="10B981"/>
                </a:solidFill>
                <a:latin typeface="Trebuchet MS"/>
              </a:defRPr>
            </a:pPr>
            <a:r>
              <a:t>DG INTERNS HUB • CYBERSECURITY INTERNSHIP PROGRAM</a:t>
            </a:r>
          </a:p>
          <a:p>
            <a:pPr>
              <a:spcBef>
                <a:spcPts val="800"/>
              </a:spcBef>
              <a:defRPr sz="3600" b="1">
                <a:solidFill>
                  <a:srgbClr val="F8FAFC"/>
                </a:solidFill>
                <a:latin typeface="Trebuchet MS"/>
              </a:defRPr>
            </a:pPr>
            <a:r>
              <a:t>Web Security &amp; VAPT Basics</a:t>
            </a:r>
          </a:p>
          <a:p>
            <a:pPr>
              <a:spcBef>
                <a:spcPts val="600"/>
              </a:spcBef>
              <a:defRPr sz="1600">
                <a:solidFill>
                  <a:srgbClr val="94A3B8"/>
                </a:solidFill>
                <a:latin typeface="Arial"/>
              </a:defRPr>
            </a:pPr>
            <a:r>
              <a:t>Vulnerability Assessment and Penetration Testing on DVWA — Technical Report &amp; Findings</a:t>
            </a:r>
          </a:p>
        </p:txBody>
      </p:sp>
      <p:sp>
        <p:nvSpPr>
          <p:cNvPr id="4" name="Rounded Rectangle 3"/>
          <p:cNvSpPr/>
          <p:nvPr/>
        </p:nvSpPr>
        <p:spPr>
          <a:xfrm>
            <a:off x="731520" y="3474720"/>
            <a:ext cx="3328416"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100" b="1">
                <a:solidFill>
                  <a:srgbClr val="06B6D4"/>
                </a:solidFill>
                <a:latin typeface="Trebuchet MS"/>
              </a:defRPr>
            </a:pPr>
            <a:r>
              <a:t>CANDIDATE</a:t>
            </a:r>
          </a:p>
          <a:p>
            <a:pPr>
              <a:spcBef>
                <a:spcPts val="400"/>
              </a:spcBef>
              <a:defRPr sz="1800" b="1">
                <a:solidFill>
                  <a:srgbClr val="F8FAFC"/>
                </a:solidFill>
                <a:latin typeface="Trebuchet MS"/>
              </a:defRPr>
            </a:pPr>
            <a:r>
              <a:t>Prakhar Gupta</a:t>
            </a:r>
          </a:p>
          <a:p>
            <a:pPr>
              <a:spcBef>
                <a:spcPts val="200"/>
              </a:spcBef>
              <a:defRPr sz="1100">
                <a:solidFill>
                  <a:srgbClr val="64748B"/>
                </a:solidFill>
                <a:latin typeface="Arial"/>
              </a:defRPr>
            </a:pPr>
            <a:r>
              <a:t>Role: Cybersecurity Intern</a:t>
            </a:r>
          </a:p>
        </p:txBody>
      </p:sp>
      <p:sp>
        <p:nvSpPr>
          <p:cNvPr id="5" name="Rounded Rectangle 4"/>
          <p:cNvSpPr/>
          <p:nvPr/>
        </p:nvSpPr>
        <p:spPr>
          <a:xfrm>
            <a:off x="4425696" y="3474720"/>
            <a:ext cx="3328416"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100" b="1">
                <a:solidFill>
                  <a:srgbClr val="06B6D4"/>
                </a:solidFill>
                <a:latin typeface="Trebuchet MS"/>
              </a:defRPr>
            </a:pPr>
            <a:r>
              <a:t>PROJECT SCOPE</a:t>
            </a:r>
          </a:p>
          <a:p>
            <a:pPr>
              <a:spcBef>
                <a:spcPts val="400"/>
              </a:spcBef>
              <a:defRPr sz="1800" b="1">
                <a:solidFill>
                  <a:srgbClr val="F8FAFC"/>
                </a:solidFill>
                <a:latin typeface="Trebuchet MS"/>
              </a:defRPr>
            </a:pPr>
            <a:r>
              <a:t>Week 6 Milestone</a:t>
            </a:r>
          </a:p>
          <a:p>
            <a:pPr>
              <a:spcBef>
                <a:spcPts val="200"/>
              </a:spcBef>
              <a:defRPr sz="1100">
                <a:solidFill>
                  <a:srgbClr val="64748B"/>
                </a:solidFill>
                <a:latin typeface="Arial"/>
              </a:defRPr>
            </a:pPr>
            <a:r>
              <a:t>Target: DVWA (Isolated Local Stack)</a:t>
            </a:r>
          </a:p>
        </p:txBody>
      </p:sp>
      <p:sp>
        <p:nvSpPr>
          <p:cNvPr id="6" name="Rounded Rectangle 5"/>
          <p:cNvSpPr/>
          <p:nvPr/>
        </p:nvSpPr>
        <p:spPr>
          <a:xfrm>
            <a:off x="8119872" y="3474720"/>
            <a:ext cx="3328416"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100" b="1">
                <a:solidFill>
                  <a:srgbClr val="06B6D4"/>
                </a:solidFill>
                <a:latin typeface="Trebuchet MS"/>
              </a:defRPr>
            </a:pPr>
            <a:r>
              <a:t>ASSESSMENT DATE</a:t>
            </a:r>
          </a:p>
          <a:p>
            <a:pPr>
              <a:spcBef>
                <a:spcPts val="400"/>
              </a:spcBef>
              <a:defRPr sz="1800" b="1">
                <a:solidFill>
                  <a:srgbClr val="F8FAFC"/>
                </a:solidFill>
                <a:latin typeface="Trebuchet MS"/>
              </a:defRPr>
            </a:pPr>
            <a:r>
              <a:t>14 / Oct / 2026</a:t>
            </a:r>
          </a:p>
          <a:p>
            <a:pPr>
              <a:spcBef>
                <a:spcPts val="200"/>
              </a:spcBef>
              <a:defRPr sz="1100">
                <a:solidFill>
                  <a:srgbClr val="64748B"/>
                </a:solidFill>
                <a:latin typeface="Arial"/>
              </a:defRPr>
            </a:pPr>
            <a:r>
              <a:t>Status: Verified &amp; Confidential</a:t>
            </a:r>
          </a:p>
        </p:txBody>
      </p:sp>
      <p:sp>
        <p:nvSpPr>
          <p:cNvPr id="7" name="Rounded Rectangle 6"/>
          <p:cNvSpPr/>
          <p:nvPr/>
        </p:nvSpPr>
        <p:spPr>
          <a:xfrm>
            <a:off x="731520" y="5212080"/>
            <a:ext cx="10728655"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100" b="1">
                <a:solidFill>
                  <a:srgbClr val="10B981"/>
                </a:solidFill>
                <a:latin typeface="Trebuchet MS"/>
              </a:defRPr>
            </a:pPr>
            <a:r>
              <a:t>EXECUTIVE ASSESSMENT OBJECTIVE</a:t>
            </a:r>
          </a:p>
          <a:p>
            <a:pPr>
              <a:spcBef>
                <a:spcPts val="400"/>
              </a:spcBef>
              <a:defRPr sz="1200">
                <a:solidFill>
                  <a:srgbClr val="94A3B8"/>
                </a:solidFill>
                <a:latin typeface="Arial"/>
              </a:defRPr>
            </a:pPr>
            <a:r>
              <a:t>Comprehensive evaluation of application-layer vulnerabilities within the Damn Vulnerable Web Application (DVWA) using manual interception via Burp Suite and automated DAST scanning via OWASP ZAP to establish defensible remediation strategies.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FOUNDATIONS &amp; THREAT TAXONOMY</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VAPT Combines Automated Scanning with Targeted Exploitation Across OWASP Vectors</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400" b="1">
                <a:solidFill>
                  <a:srgbClr val="06B6D4"/>
                </a:solidFill>
                <a:latin typeface="Trebuchet MS"/>
              </a:defRPr>
            </a:pPr>
            <a:r>
              <a:t>VAPT METHODOLOGY DUALITY</a:t>
            </a:r>
          </a:p>
          <a:p>
            <a:pPr>
              <a:spcBef>
                <a:spcPts val="800"/>
              </a:spcBef>
              <a:defRPr sz="1200">
                <a:solidFill>
                  <a:srgbClr val="F8FAFC"/>
                </a:solidFill>
                <a:latin typeface="Arial"/>
              </a:defRPr>
            </a:pPr>
            <a:r>
              <a:t>• Vulnerability Assessment (VA): Systematic identification, categorization, and prioritization of known flaws using automated vulnerability scanners.</a:t>
            </a:r>
          </a:p>
          <a:p>
            <a:pPr>
              <a:spcBef>
                <a:spcPts val="800"/>
              </a:spcBef>
              <a:defRPr sz="1200">
                <a:solidFill>
                  <a:srgbClr val="F8FAFC"/>
                </a:solidFill>
                <a:latin typeface="Arial"/>
              </a:defRPr>
            </a:pPr>
            <a:r>
              <a:t>• Penetration Testing (PT): Active, hands-on simulated attacks that exploit security gaps to prove real-world breach impact and attack chaining.</a:t>
            </a:r>
          </a:p>
          <a:p>
            <a:pPr>
              <a:spcBef>
                <a:spcPts val="1400"/>
              </a:spcBef>
              <a:defRPr sz="1300" b="1">
                <a:solidFill>
                  <a:srgbClr val="10B981"/>
                </a:solidFill>
                <a:latin typeface="Trebuchet MS"/>
              </a:defRPr>
            </a:pPr>
            <a:r>
              <a:t>Strategic Value to Organizations:</a:t>
            </a:r>
          </a:p>
          <a:p>
            <a:pPr>
              <a:spcBef>
                <a:spcPts val="400"/>
              </a:spcBef>
              <a:defRPr sz="1100">
                <a:solidFill>
                  <a:srgbClr val="94A3B8"/>
                </a:solidFill>
                <a:latin typeface="Arial"/>
              </a:defRPr>
            </a:pPr>
            <a:r>
              <a:t>• Discovers vulnerabilities prior to malicious exploitation.</a:t>
            </a:r>
            <a:br/>
            <a:r>
              <a:t>• Satisfies compliance mandates: ISO 27001, PCI-DSS, GDPR.</a:t>
            </a:r>
            <a:br/>
            <a:r>
              <a:t>• Reduces operational downtime, data breach costs, and brand damage.</a:t>
            </a:r>
            <a:br/>
            <a:r>
              <a:t>• Provides prioritized, developer-ready remediation guidance.</a:t>
            </a:r>
          </a:p>
        </p:txBody>
      </p:sp>
      <p:sp>
        <p:nvSpPr>
          <p:cNvPr id="7" name="Rounded Rectangle 6"/>
          <p:cNvSpPr/>
          <p:nvPr/>
        </p:nvSpPr>
        <p:spPr>
          <a:xfrm>
            <a:off x="6217920" y="1645920"/>
            <a:ext cx="5242255" cy="1051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F4444"/>
                </a:solidFill>
                <a:latin typeface="Trebuchet MS"/>
              </a:defRPr>
            </a:pPr>
            <a:r>
              <a:t>SQL Injection (SQLi)</a:t>
            </a:r>
          </a:p>
          <a:p>
            <a:pPr>
              <a:spcBef>
                <a:spcPts val="200"/>
              </a:spcBef>
              <a:defRPr sz="1000">
                <a:solidFill>
                  <a:srgbClr val="F8FAFC"/>
                </a:solidFill>
                <a:latin typeface="Arial"/>
              </a:defRPr>
            </a:pPr>
            <a:r>
              <a:t>Untrusted input directly concatenated into queries, altering database logic to bypass auth or dump data.</a:t>
            </a:r>
          </a:p>
        </p:txBody>
      </p:sp>
      <p:sp>
        <p:nvSpPr>
          <p:cNvPr id="8" name="Rounded Rectangle 7"/>
          <p:cNvSpPr/>
          <p:nvPr/>
        </p:nvSpPr>
        <p:spPr>
          <a:xfrm>
            <a:off x="6217920" y="2843784"/>
            <a:ext cx="5242255" cy="1051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F4444"/>
                </a:solidFill>
                <a:latin typeface="Trebuchet MS"/>
              </a:defRPr>
            </a:pPr>
            <a:r>
              <a:t>Cross-Site Scripting (XSS)</a:t>
            </a:r>
          </a:p>
          <a:p>
            <a:pPr>
              <a:spcBef>
                <a:spcPts val="200"/>
              </a:spcBef>
              <a:defRPr sz="1000">
                <a:solidFill>
                  <a:srgbClr val="F8FAFC"/>
                </a:solidFill>
                <a:latin typeface="Arial"/>
              </a:defRPr>
            </a:pPr>
            <a:r>
              <a:t>Unsanitized user data reflected or stored in pages, executing arbitrary JS in victim browser sessions.</a:t>
            </a:r>
          </a:p>
        </p:txBody>
      </p:sp>
      <p:sp>
        <p:nvSpPr>
          <p:cNvPr id="9" name="Rounded Rectangle 8"/>
          <p:cNvSpPr/>
          <p:nvPr/>
        </p:nvSpPr>
        <p:spPr>
          <a:xfrm>
            <a:off x="6217920" y="4041648"/>
            <a:ext cx="5242255" cy="1051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F59E0B"/>
                </a:solidFill>
                <a:latin typeface="Trebuchet MS"/>
              </a:defRPr>
            </a:pPr>
            <a:r>
              <a:t>Broken Authentication</a:t>
            </a:r>
          </a:p>
          <a:p>
            <a:pPr>
              <a:spcBef>
                <a:spcPts val="200"/>
              </a:spcBef>
              <a:defRPr sz="1000">
                <a:solidFill>
                  <a:srgbClr val="F8FAFC"/>
                </a:solidFill>
                <a:latin typeface="Arial"/>
              </a:defRPr>
            </a:pPr>
            <a:r>
              <a:t>Weak credential policies, missing lockout/rate-limiting, and predictable session identifiers.</a:t>
            </a:r>
          </a:p>
        </p:txBody>
      </p:sp>
      <p:sp>
        <p:nvSpPr>
          <p:cNvPr id="10" name="Rounded Rectangle 9"/>
          <p:cNvSpPr/>
          <p:nvPr/>
        </p:nvSpPr>
        <p:spPr>
          <a:xfrm>
            <a:off x="6217920" y="5239512"/>
            <a:ext cx="5242255" cy="105156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3B82F6"/>
                </a:solidFill>
                <a:latin typeface="Trebuchet MS"/>
              </a:defRPr>
            </a:pPr>
            <a:r>
              <a:t>Security Misconfiguration</a:t>
            </a:r>
          </a:p>
          <a:p>
            <a:pPr>
              <a:spcBef>
                <a:spcPts val="200"/>
              </a:spcBef>
              <a:defRPr sz="1000">
                <a:solidFill>
                  <a:srgbClr val="F8FAFC"/>
                </a:solidFill>
                <a:latin typeface="Arial"/>
              </a:defRPr>
            </a:pPr>
            <a:r>
              <a:t>Default passwords, directory listing enabled, verbose error leaks, and missing security headers.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LABORATORY ARCHITECTURE</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Isolated Testing Stack Integrates DVWA, Burp Proxy, and OWASP ZAP</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300" b="1">
                <a:solidFill>
                  <a:srgbClr val="06B6D4"/>
                </a:solidFill>
                <a:latin typeface="Trebuchet MS"/>
              </a:defRPr>
            </a:pPr>
            <a:r>
              <a:t>LOCAL DEPLOYMENT STACK</a:t>
            </a:r>
          </a:p>
          <a:p>
            <a:pPr>
              <a:spcBef>
                <a:spcPts val="600"/>
              </a:spcBef>
              <a:defRPr sz="1100">
                <a:solidFill>
                  <a:srgbClr val="F8FAFC"/>
                </a:solidFill>
                <a:latin typeface="Arial"/>
              </a:defRPr>
            </a:pPr>
            <a:r>
              <a:t>• Target Application: Damn Vulnerable Web Application (DVWA) cloned to XAMPP htdocs; MySQL schema generated via setup.php.</a:t>
            </a:r>
          </a:p>
          <a:p>
            <a:pPr>
              <a:spcBef>
                <a:spcPts val="600"/>
              </a:spcBef>
              <a:defRPr sz="1100">
                <a:solidFill>
                  <a:srgbClr val="F8FAFC"/>
                </a:solidFill>
                <a:latin typeface="Arial"/>
              </a:defRPr>
            </a:pPr>
            <a:r>
              <a:t>• Web &amp; DB Stack: Local Apache 2.4 web server and MySQL/MariaDB database managed through the XAMPP Control Panel.</a:t>
            </a:r>
          </a:p>
          <a:p>
            <a:pPr>
              <a:spcBef>
                <a:spcPts val="600"/>
              </a:spcBef>
              <a:defRPr sz="1100">
                <a:solidFill>
                  <a:srgbClr val="F8FAFC"/>
                </a:solidFill>
                <a:latin typeface="Arial"/>
              </a:defRPr>
            </a:pPr>
            <a:r>
              <a:t>• Network Isolation: Tests restricted to localhost (127.0.0.1) preventing unauthorized external transmissions.</a:t>
            </a:r>
          </a:p>
          <a:p>
            <a:pPr>
              <a:spcBef>
                <a:spcPts val="1200"/>
              </a:spcBef>
              <a:defRPr sz="1300" b="1">
                <a:solidFill>
                  <a:srgbClr val="10B981"/>
                </a:solidFill>
                <a:latin typeface="Trebuchet MS"/>
              </a:defRPr>
            </a:pPr>
            <a:r>
              <a:t>CORE TOOLKIT ROLES</a:t>
            </a:r>
          </a:p>
          <a:p>
            <a:pPr>
              <a:spcBef>
                <a:spcPts val="400"/>
              </a:spcBef>
              <a:defRPr sz="1100">
                <a:solidFill>
                  <a:srgbClr val="94A3B8"/>
                </a:solidFill>
                <a:latin typeface="Arial"/>
              </a:defRPr>
            </a:pPr>
            <a:r>
              <a:t>• Burp Suite Community Edition (v2026.7.2):</a:t>
            </a:r>
            <a:br/>
            <a:r>
              <a:t>  Interception proxy on 127.0.0.1:8080, Repeater engine for manual payload injection, decoder, and site mapper.</a:t>
            </a:r>
          </a:p>
          <a:p>
            <a:pPr>
              <a:spcBef>
                <a:spcPts val="400"/>
              </a:spcBef>
              <a:defRPr sz="1100">
                <a:solidFill>
                  <a:srgbClr val="94A3B8"/>
                </a:solidFill>
                <a:latin typeface="Arial"/>
              </a:defRPr>
            </a:pPr>
            <a:r>
              <a:t>• OWASP ZAP (Zed Attack Proxy):</a:t>
            </a:r>
            <a:br/>
            <a:r>
              <a:t>  Automated DAST spidering, active vulnerability scanning, and risk-rated alert triaging.</a:t>
            </a:r>
          </a:p>
          <a:p>
            <a:pPr>
              <a:spcBef>
                <a:spcPts val="400"/>
              </a:spcBef>
              <a:defRPr sz="1100">
                <a:solidFill>
                  <a:srgbClr val="94A3B8"/>
                </a:solidFill>
                <a:latin typeface="Arial"/>
              </a:defRPr>
            </a:pPr>
            <a:r>
              <a:t>• Mozilla Firefox &amp; FoxyProxy:</a:t>
            </a:r>
            <a:br/>
            <a:r>
              <a:t>  Seamless routing toggles between direct browsing and proxy interception.</a:t>
            </a:r>
          </a:p>
        </p:txBody>
      </p:sp>
      <p:sp>
        <p:nvSpPr>
          <p:cNvPr id="7" name="Rounded Rectangle 6"/>
          <p:cNvSpPr/>
          <p:nvPr/>
        </p:nvSpPr>
        <p:spPr>
          <a:xfrm>
            <a:off x="6217920" y="1645920"/>
            <a:ext cx="5242255" cy="466344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 1]</a:t>
            </a:r>
          </a:p>
          <a:p>
            <a:pPr algn="ctr">
              <a:spcBef>
                <a:spcPts val="400"/>
              </a:spcBef>
              <a:defRPr sz="1000">
                <a:solidFill>
                  <a:srgbClr val="94A3B8"/>
                </a:solidFill>
                <a:latin typeface="Arial"/>
              </a:defRPr>
            </a:pPr>
            <a:r>
              <a:t>DVWA Security Level Configuration and Setup Verification</a:t>
            </a:r>
            <a:br/>
            <a:br/>
            <a:r>
              <a:t>[Insert screenshot showing DVWA Security configuration page</a:t>
            </a:r>
            <a:br/>
            <a:r>
              <a:t>with Security Level set to 'Low' and PHP/MySQL connection verified]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MANUAL EXPLOITATION ANALYSIS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Direct Payload Injections Alter Database Query Logic and Trigger Script Execution</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2468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4754880" cy="2286000"/>
          </a:xfrm>
          <a:prstGeom prst="rect">
            <a:avLst/>
          </a:prstGeom>
          <a:noFill/>
        </p:spPr>
        <p:txBody>
          <a:bodyPr wrap="square">
            <a:spAutoFit/>
          </a:bodyPr>
          <a:lstStyle/>
          <a:p>
            <a:pPr>
              <a:defRPr sz="1200" b="1">
                <a:solidFill>
                  <a:srgbClr val="EF4444"/>
                </a:solidFill>
                <a:latin typeface="Trebuchet MS"/>
              </a:defRPr>
            </a:pPr>
            <a:r>
              <a:t>SQL INJECTION EXPLOITATION (DVWA LOW)</a:t>
            </a:r>
          </a:p>
          <a:p>
            <a:pPr>
              <a:spcBef>
                <a:spcPts val="400"/>
              </a:spcBef>
              <a:defRPr sz="1000">
                <a:solidFill>
                  <a:srgbClr val="F8FAFC"/>
                </a:solidFill>
                <a:latin typeface="Arial"/>
              </a:defRPr>
            </a:pPr>
            <a:r>
              <a:t>• Baseline Request: User ID '1' returned expected single record (ID: 1, First name: admin, Surname: admin).</a:t>
            </a:r>
          </a:p>
          <a:p>
            <a:pPr>
              <a:spcBef>
                <a:spcPts val="400"/>
              </a:spcBef>
              <a:defRPr sz="950">
                <a:solidFill>
                  <a:srgbClr val="06B6D4"/>
                </a:solidFill>
                <a:latin typeface="Courier New"/>
              </a:defRPr>
            </a:pPr>
            <a:r>
              <a:t>• Injected Payloads: 1' OR '1'='1 | 1' UNION SELECT user, password FROM users -- - | 1' ORDER BY 3-- -</a:t>
            </a:r>
          </a:p>
          <a:p>
            <a:pPr>
              <a:spcBef>
                <a:spcPts val="400"/>
              </a:spcBef>
              <a:defRPr sz="1000">
                <a:solidFill>
                  <a:srgbClr val="94A3B8"/>
                </a:solidFill>
                <a:latin typeface="Arial"/>
              </a:defRPr>
            </a:pPr>
            <a:r>
              <a:t>• Observed Impact: Authentication check bypassed; full database record dump exposed 5 users (Admin, Gordon Brown, Hack Me, Pablo Picasso, Bob Smith).</a:t>
            </a:r>
          </a:p>
        </p:txBody>
      </p:sp>
      <p:sp>
        <p:nvSpPr>
          <p:cNvPr id="7" name="Rounded Rectangle 6"/>
          <p:cNvSpPr/>
          <p:nvPr/>
        </p:nvSpPr>
        <p:spPr>
          <a:xfrm>
            <a:off x="731520" y="4297680"/>
            <a:ext cx="5120640" cy="20116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FIGURES 2 &amp; 3]</a:t>
            </a:r>
          </a:p>
          <a:p>
            <a:pPr algn="ctr">
              <a:spcBef>
                <a:spcPts val="400"/>
              </a:spcBef>
              <a:defRPr sz="1000">
                <a:solidFill>
                  <a:srgbClr val="94A3B8"/>
                </a:solidFill>
                <a:latin typeface="Arial"/>
              </a:defRPr>
            </a:pPr>
            <a:r>
              <a:t>DVWA SQL Injection Baseline vs. ' OR '1'='1' Multi-Record Dump</a:t>
            </a:r>
            <a:br/>
            <a:r>
              <a:t>[Insert screenshot comparison of User ID: 1 vs full users table disclosure]</a:t>
            </a:r>
          </a:p>
        </p:txBody>
      </p:sp>
      <p:sp>
        <p:nvSpPr>
          <p:cNvPr id="8" name="Rounded Rectangle 7"/>
          <p:cNvSpPr/>
          <p:nvPr/>
        </p:nvSpPr>
        <p:spPr>
          <a:xfrm>
            <a:off x="6217920" y="1645920"/>
            <a:ext cx="5242255" cy="2468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4876495" cy="2286000"/>
          </a:xfrm>
          <a:prstGeom prst="rect">
            <a:avLst/>
          </a:prstGeom>
          <a:noFill/>
        </p:spPr>
        <p:txBody>
          <a:bodyPr wrap="square">
            <a:spAutoFit/>
          </a:bodyPr>
          <a:lstStyle/>
          <a:p>
            <a:pPr>
              <a:defRPr sz="1200" b="1">
                <a:solidFill>
                  <a:srgbClr val="EF4444"/>
                </a:solidFill>
                <a:latin typeface="Trebuchet MS"/>
              </a:defRPr>
            </a:pPr>
            <a:r>
              <a:t>CROSS-SITE SCRIPTING EXPLOITATION (XSS)</a:t>
            </a:r>
          </a:p>
          <a:p>
            <a:pPr>
              <a:spcBef>
                <a:spcPts val="400"/>
              </a:spcBef>
              <a:defRPr sz="1000">
                <a:solidFill>
                  <a:srgbClr val="F8FAFC"/>
                </a:solidFill>
                <a:latin typeface="Arial"/>
              </a:defRPr>
            </a:pPr>
            <a:r>
              <a:t>• Reflected XSS: Injected &lt;script&gt;alert('Reflected XSS')&lt;/script&gt; into 'name' field; immediately rendered and executed alert popup in browser.</a:t>
            </a:r>
          </a:p>
          <a:p>
            <a:pPr>
              <a:spcBef>
                <a:spcPts val="400"/>
              </a:spcBef>
              <a:defRPr sz="1000">
                <a:solidFill>
                  <a:srgbClr val="F8FAFC"/>
                </a:solidFill>
                <a:latin typeface="Arial"/>
              </a:defRPr>
            </a:pPr>
            <a:r>
              <a:t>• Stored XSS: Injected &lt;script&gt;alert('Stored XSS')&lt;/script&gt; into DVWA Guestbook; persisted into database and executed for all subsequent visitors.</a:t>
            </a:r>
          </a:p>
          <a:p>
            <a:pPr>
              <a:spcBef>
                <a:spcPts val="400"/>
              </a:spcBef>
              <a:defRPr sz="1000">
                <a:solidFill>
                  <a:srgbClr val="94A3B8"/>
                </a:solidFill>
                <a:latin typeface="Arial"/>
              </a:defRPr>
            </a:pPr>
            <a:r>
              <a:t>• Filter Evasion: Medium/High tests demonstrated that simple tag-stripping blacklist filters are easily circumvented via alternative script encodings.</a:t>
            </a:r>
          </a:p>
        </p:txBody>
      </p:sp>
      <p:sp>
        <p:nvSpPr>
          <p:cNvPr id="10" name="Rounded Rectangle 9"/>
          <p:cNvSpPr/>
          <p:nvPr/>
        </p:nvSpPr>
        <p:spPr>
          <a:xfrm>
            <a:off x="6217920" y="4297680"/>
            <a:ext cx="5242255" cy="20116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FIGURES 4 &amp; 5]</a:t>
            </a:r>
          </a:p>
          <a:p>
            <a:pPr algn="ctr">
              <a:spcBef>
                <a:spcPts val="400"/>
              </a:spcBef>
              <a:defRPr sz="1000">
                <a:solidFill>
                  <a:srgbClr val="94A3B8"/>
                </a:solidFill>
                <a:latin typeface="Arial"/>
              </a:defRPr>
            </a:pPr>
            <a:r>
              <a:t>Reflected &amp; Stored XSS Execution in Browser &amp; Guestbook</a:t>
            </a:r>
            <a:br/>
            <a:r>
              <a:t>[Insert screenshot of modal JavaScript alert box and persistent Guestbook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TRAFFIC INSPECTION &amp; MANIPULATION</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Burp Suite Proxy and Repeater Facilitate In-Flight Request Tampering</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300" b="1">
                <a:solidFill>
                  <a:srgbClr val="06B6D4"/>
                </a:solidFill>
                <a:latin typeface="Trebuchet MS"/>
              </a:defRPr>
            </a:pPr>
            <a:r>
              <a:t>PROXY INTERCEPTION ARCHITECTURE</a:t>
            </a:r>
          </a:p>
          <a:p>
            <a:pPr>
              <a:spcBef>
                <a:spcPts val="600"/>
              </a:spcBef>
              <a:defRPr sz="1100">
                <a:solidFill>
                  <a:srgbClr val="F8FAFC"/>
                </a:solidFill>
                <a:latin typeface="Arial"/>
              </a:defRPr>
            </a:pPr>
            <a:r>
              <a:t>• In-Line Traffic Interception: Configured browser to route all HTTP GET/POST requests through 127.0.0.1:8080 before reaching Apache.</a:t>
            </a:r>
          </a:p>
          <a:p>
            <a:pPr>
              <a:spcBef>
                <a:spcPts val="600"/>
              </a:spcBef>
              <a:defRPr sz="1100">
                <a:solidFill>
                  <a:srgbClr val="F8FAFC"/>
                </a:solidFill>
                <a:latin typeface="Arial"/>
              </a:defRPr>
            </a:pPr>
            <a:r>
              <a:t>• Parameter Inspection: Analyzed raw URL-encoded parameters (e.g. id=1%27+OR+%271%27%3D%271&amp;Submit=Submit) and session cookies (PHPSESSID, security=low).</a:t>
            </a:r>
          </a:p>
          <a:p>
            <a:pPr>
              <a:spcBef>
                <a:spcPts val="1200"/>
              </a:spcBef>
              <a:defRPr sz="1300" b="1">
                <a:solidFill>
                  <a:srgbClr val="10B981"/>
                </a:solidFill>
                <a:latin typeface="Trebuchet MS"/>
              </a:defRPr>
            </a:pPr>
            <a:r>
              <a:t>BURP REPEATER WORKFLOW</a:t>
            </a:r>
          </a:p>
          <a:p>
            <a:pPr>
              <a:spcBef>
                <a:spcPts val="400"/>
              </a:spcBef>
              <a:defRPr sz="1100">
                <a:solidFill>
                  <a:srgbClr val="94A3B8"/>
                </a:solidFill>
                <a:latin typeface="Arial"/>
              </a:defRPr>
            </a:pPr>
            <a:r>
              <a:t>• Rapid Payload Iteration: Transferred captured requests into Repeater tab, enabling fine-grained payload alteration without re-submitting web forms.</a:t>
            </a:r>
          </a:p>
          <a:p>
            <a:pPr>
              <a:spcBef>
                <a:spcPts val="400"/>
              </a:spcBef>
              <a:defRPr sz="1100">
                <a:solidFill>
                  <a:srgbClr val="94A3B8"/>
                </a:solidFill>
                <a:latin typeface="Arial"/>
              </a:defRPr>
            </a:pPr>
            <a:r>
              <a:t>• Differential Response Analysis: Inspected server response headers (HTTP/1.1 200 OK, Content-Length: 5026) and rendered HTML side-by-side to verify injection success.</a:t>
            </a:r>
          </a:p>
        </p:txBody>
      </p:sp>
      <p:sp>
        <p:nvSpPr>
          <p:cNvPr id="7" name="Rounded Rectangle 6"/>
          <p:cNvSpPr/>
          <p:nvPr/>
        </p:nvSpPr>
        <p:spPr>
          <a:xfrm>
            <a:off x="6217920" y="1645920"/>
            <a:ext cx="5242255" cy="22402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 6]</a:t>
            </a:r>
          </a:p>
          <a:p>
            <a:pPr algn="ctr">
              <a:spcBef>
                <a:spcPts val="400"/>
              </a:spcBef>
              <a:defRPr sz="1000">
                <a:solidFill>
                  <a:srgbClr val="94A3B8"/>
                </a:solidFill>
                <a:latin typeface="Arial"/>
              </a:defRPr>
            </a:pPr>
            <a:r>
              <a:t>Burp Suite Proxy HTTP History Tab</a:t>
            </a:r>
            <a:br/>
            <a:r>
              <a:t>[Insert screenshot showing intercepted HTTP GET/POST requests and SQLi parameters]</a:t>
            </a:r>
          </a:p>
        </p:txBody>
      </p:sp>
      <p:sp>
        <p:nvSpPr>
          <p:cNvPr id="8" name="Rounded Rectangle 7"/>
          <p:cNvSpPr/>
          <p:nvPr/>
        </p:nvSpPr>
        <p:spPr>
          <a:xfrm>
            <a:off x="6217920" y="4069080"/>
            <a:ext cx="5242255" cy="22402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 7]</a:t>
            </a:r>
          </a:p>
          <a:p>
            <a:pPr algn="ctr">
              <a:spcBef>
                <a:spcPts val="400"/>
              </a:spcBef>
              <a:defRPr sz="1000">
                <a:solidFill>
                  <a:srgbClr val="94A3B8"/>
                </a:solidFill>
                <a:latin typeface="Arial"/>
              </a:defRPr>
            </a:pPr>
            <a:r>
              <a:t>Burp Suite Repeater Side-by-Side Analysis</a:t>
            </a:r>
            <a:br/>
            <a:r>
              <a:t>[Insert screenshot showing raw request on left and HTTP 200 OK response on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AUTOMATED DAST ASSESSMENT</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OWASP ZAP Crawls Endpoints and Surfaces Risk-Grouped Vulnerabilities</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97680"/>
          </a:xfrm>
          <a:prstGeom prst="rect">
            <a:avLst/>
          </a:prstGeom>
          <a:noFill/>
        </p:spPr>
        <p:txBody>
          <a:bodyPr wrap="square">
            <a:spAutoFit/>
          </a:bodyPr>
          <a:lstStyle/>
          <a:p>
            <a:pPr>
              <a:defRPr sz="1300" b="1">
                <a:solidFill>
                  <a:srgbClr val="06B6D4"/>
                </a:solidFill>
                <a:latin typeface="Trebuchet MS"/>
              </a:defRPr>
            </a:pPr>
            <a:r>
              <a:t>5-STAGE AUTOMATED SCAN WORKFLOW</a:t>
            </a:r>
          </a:p>
          <a:p>
            <a:pPr>
              <a:spcBef>
                <a:spcPts val="600"/>
              </a:spcBef>
              <a:defRPr sz="1100">
                <a:solidFill>
                  <a:srgbClr val="F8FAFC"/>
                </a:solidFill>
                <a:latin typeface="Arial"/>
              </a:defRPr>
            </a:pPr>
            <a:r>
              <a:t>• 1. Target Scope Definition: Pointed ZAP Quick Start scanner to http://localhost/dvwa/.</a:t>
            </a:r>
          </a:p>
          <a:p>
            <a:pPr>
              <a:spcBef>
                <a:spcPts val="600"/>
              </a:spcBef>
              <a:defRPr sz="1100">
                <a:solidFill>
                  <a:srgbClr val="F8FAFC"/>
                </a:solidFill>
                <a:latin typeface="Arial"/>
              </a:defRPr>
            </a:pPr>
            <a:r>
              <a:t>• 2. Spider Crawling: Traditional &amp; AJAX Spiders mapped link hierarchy and discovered endpoints.</a:t>
            </a:r>
          </a:p>
          <a:p>
            <a:pPr>
              <a:spcBef>
                <a:spcPts val="600"/>
              </a:spcBef>
              <a:defRPr sz="1100">
                <a:solidFill>
                  <a:srgbClr val="F8FAFC"/>
                </a:solidFill>
                <a:latin typeface="Arial"/>
              </a:defRPr>
            </a:pPr>
            <a:r>
              <a:t>• 3. Active Scan Attack: Automated rules injected targeted test vectors into all parameters.</a:t>
            </a:r>
          </a:p>
          <a:p>
            <a:pPr>
              <a:spcBef>
                <a:spcPts val="600"/>
              </a:spcBef>
              <a:defRPr sz="1100">
                <a:solidFill>
                  <a:srgbClr val="F8FAFC"/>
                </a:solidFill>
                <a:latin typeface="Arial"/>
              </a:defRPr>
            </a:pPr>
            <a:r>
              <a:t>• 4. Alert Triage: Categorized findings into High, Medium, Low, and Informational risk.</a:t>
            </a:r>
          </a:p>
          <a:p>
            <a:pPr>
              <a:spcBef>
                <a:spcPts val="600"/>
              </a:spcBef>
              <a:defRPr sz="1100">
                <a:solidFill>
                  <a:srgbClr val="F8FAFC"/>
                </a:solidFill>
                <a:latin typeface="Arial"/>
              </a:defRPr>
            </a:pPr>
            <a:r>
              <a:t>• 5. Report Export: Generated comprehensive HTML and PDF audit summaries.</a:t>
            </a:r>
          </a:p>
          <a:p>
            <a:pPr>
              <a:spcBef>
                <a:spcPts val="1200"/>
              </a:spcBef>
              <a:defRPr sz="1300" b="1">
                <a:solidFill>
                  <a:srgbClr val="10B981"/>
                </a:solidFill>
                <a:latin typeface="Trebuchet MS"/>
              </a:defRPr>
            </a:pPr>
            <a:r>
              <a:t>AUTOMATED SCAN BENEFITS</a:t>
            </a:r>
          </a:p>
          <a:p>
            <a:pPr>
              <a:spcBef>
                <a:spcPts val="400"/>
              </a:spcBef>
              <a:defRPr sz="1100">
                <a:solidFill>
                  <a:srgbClr val="94A3B8"/>
                </a:solidFill>
                <a:latin typeface="Arial"/>
              </a:defRPr>
            </a:pPr>
            <a:r>
              <a:t>Rapid broad-spectrum testing across hundreds of parameters; reliably surfaces missing defensive configuration headers that manual tests may overlook.</a:t>
            </a:r>
          </a:p>
        </p:txBody>
      </p:sp>
      <p:sp>
        <p:nvSpPr>
          <p:cNvPr id="7" name="Rounded Rectangle 6"/>
          <p:cNvSpPr/>
          <p:nvPr/>
        </p:nvSpPr>
        <p:spPr>
          <a:xfrm>
            <a:off x="6217920" y="1645920"/>
            <a:ext cx="5242255" cy="22402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 8]</a:t>
            </a:r>
          </a:p>
          <a:p>
            <a:pPr algn="ctr">
              <a:spcBef>
                <a:spcPts val="400"/>
              </a:spcBef>
              <a:defRPr sz="1000">
                <a:solidFill>
                  <a:srgbClr val="94A3B8"/>
                </a:solidFill>
                <a:latin typeface="Arial"/>
              </a:defRPr>
            </a:pPr>
            <a:r>
              <a:t>OWASP ZAP Automated Scan Execution</a:t>
            </a:r>
            <a:br/>
            <a:r>
              <a:t>[Insert screenshot showing scan progress bar, active attack rules, and request log]</a:t>
            </a:r>
          </a:p>
        </p:txBody>
      </p:sp>
      <p:sp>
        <p:nvSpPr>
          <p:cNvPr id="8" name="Rounded Rectangle 7"/>
          <p:cNvSpPr/>
          <p:nvPr/>
        </p:nvSpPr>
        <p:spPr>
          <a:xfrm>
            <a:off x="6217920" y="4069080"/>
            <a:ext cx="5242255" cy="22402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1200" b="1">
                <a:solidFill>
                  <a:srgbClr val="06B6D4"/>
                </a:solidFill>
                <a:latin typeface="Trebuchet MS"/>
              </a:defRPr>
            </a:pPr>
            <a:r>
              <a:t>[SCREENSHOT PLACEHOLDER: FIGURE 9]</a:t>
            </a:r>
          </a:p>
          <a:p>
            <a:pPr algn="ctr">
              <a:spcBef>
                <a:spcPts val="400"/>
              </a:spcBef>
              <a:defRPr sz="1000">
                <a:solidFill>
                  <a:srgbClr val="94A3B8"/>
                </a:solidFill>
                <a:latin typeface="Arial"/>
              </a:defRPr>
            </a:pPr>
            <a:r>
              <a:t>OWASP ZAP Alerts Summary Tree</a:t>
            </a:r>
            <a:br/>
            <a:r>
              <a:t>[Insert screenshot showing grouped alerts: CSP missing, Directory Browsing, Version Leaks]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VULNERABILITY AUDIT MATRIX</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Risk Assessment Ranks Six Confirmed Vulnerabilities Across Application Layers</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3840480"/>
        </p:xfrm>
        <a:graphic>
          <a:graphicData uri="http://schemas.openxmlformats.org/drawingml/2006/table">
            <a:tbl>
              <a:tblPr firstRow="1" bandRow="1">
                <a:tableStyleId>{5C22544A-7EE6-4342-B048-85BDC9FD1C3A}</a:tableStyleId>
              </a:tblPr>
              <a:tblGrid>
                <a:gridCol w="548640"/>
                <a:gridCol w="2194560"/>
                <a:gridCol w="2468880"/>
                <a:gridCol w="1188720"/>
                <a:gridCol w="4327855"/>
              </a:tblGrid>
              <a:tr h="548640">
                <a:tc>
                  <a:txBody>
                    <a:bodyPr/>
                    <a:lstStyle/>
                    <a:p>
                      <a:pPr>
                        <a:defRPr sz="1100" b="1">
                          <a:solidFill>
                            <a:srgbClr val="06B6D4"/>
                          </a:solidFill>
                          <a:latin typeface="Trebuchet MS"/>
                        </a:defRPr>
                      </a:pPr>
                      <a:r>
                        <a:t>#</a:t>
                      </a:r>
                    </a:p>
                  </a:txBody>
                  <a:tcPr>
                    <a:solidFill>
                      <a:srgbClr val="1E293B"/>
                    </a:solidFill>
                  </a:tcPr>
                </a:tc>
                <a:tc>
                  <a:txBody>
                    <a:bodyPr/>
                    <a:lstStyle/>
                    <a:p>
                      <a:pPr>
                        <a:defRPr sz="1100" b="1">
                          <a:solidFill>
                            <a:srgbClr val="06B6D4"/>
                          </a:solidFill>
                          <a:latin typeface="Trebuchet MS"/>
                        </a:defRPr>
                      </a:pPr>
                      <a:r>
                        <a:t>Vulnerability</a:t>
                      </a:r>
                    </a:p>
                  </a:txBody>
                  <a:tcPr>
                    <a:solidFill>
                      <a:srgbClr val="1E293B"/>
                    </a:solidFill>
                  </a:tcPr>
                </a:tc>
                <a:tc>
                  <a:txBody>
                    <a:bodyPr/>
                    <a:lstStyle/>
                    <a:p>
                      <a:pPr>
                        <a:defRPr sz="1100" b="1">
                          <a:solidFill>
                            <a:srgbClr val="06B6D4"/>
                          </a:solidFill>
                          <a:latin typeface="Trebuchet MS"/>
                        </a:defRPr>
                      </a:pPr>
                      <a:r>
                        <a:t>Target Module</a:t>
                      </a:r>
                    </a:p>
                  </a:txBody>
                  <a:tcPr>
                    <a:solidFill>
                      <a:srgbClr val="1E293B"/>
                    </a:solidFill>
                  </a:tcPr>
                </a:tc>
                <a:tc>
                  <a:txBody>
                    <a:bodyPr/>
                    <a:lstStyle/>
                    <a:p>
                      <a:pPr>
                        <a:defRPr sz="1100" b="1">
                          <a:solidFill>
                            <a:srgbClr val="06B6D4"/>
                          </a:solidFill>
                          <a:latin typeface="Trebuchet MS"/>
                        </a:defRPr>
                      </a:pPr>
                      <a:r>
                        <a:t>Risk Level</a:t>
                      </a:r>
                    </a:p>
                  </a:txBody>
                  <a:tcPr>
                    <a:solidFill>
                      <a:srgbClr val="1E293B"/>
                    </a:solidFill>
                  </a:tcPr>
                </a:tc>
                <a:tc>
                  <a:txBody>
                    <a:bodyPr/>
                    <a:lstStyle/>
                    <a:p>
                      <a:pPr>
                        <a:defRPr sz="1100" b="1">
                          <a:solidFill>
                            <a:srgbClr val="06B6D4"/>
                          </a:solidFill>
                          <a:latin typeface="Trebuchet MS"/>
                        </a:defRPr>
                      </a:pPr>
                      <a:r>
                        <a:t>Technical Finding &amp; Impact Description</a:t>
                      </a:r>
                    </a:p>
                  </a:txBody>
                  <a:tcPr>
                    <a:solidFill>
                      <a:srgbClr val="1E293B"/>
                    </a:solidFill>
                  </a:tcPr>
                </a:tc>
              </a:tr>
              <a:tr h="548640">
                <a:tc>
                  <a:txBody>
                    <a:bodyPr/>
                    <a:lstStyle/>
                    <a:p>
                      <a:pPr>
                        <a:defRPr sz="1000">
                          <a:solidFill>
                            <a:srgbClr val="94A3B8"/>
                          </a:solidFill>
                          <a:latin typeface="Arial"/>
                        </a:defRPr>
                      </a:pPr>
                      <a:r>
                        <a:t>1</a:t>
                      </a:r>
                    </a:p>
                  </a:txBody>
                  <a:tcPr marT="50800" marB="50800" marL="76200" marR="76200">
                    <a:solidFill>
                      <a:srgbClr val="18212F"/>
                    </a:solidFill>
                  </a:tcPr>
                </a:tc>
                <a:tc>
                  <a:txBody>
                    <a:bodyPr/>
                    <a:lstStyle/>
                    <a:p>
                      <a:pPr>
                        <a:defRPr sz="1000" b="1">
                          <a:solidFill>
                            <a:srgbClr val="F8FAFC"/>
                          </a:solidFill>
                          <a:latin typeface="Arial"/>
                        </a:defRPr>
                      </a:pPr>
                      <a:r>
                        <a:t>SQL Injection</a:t>
                      </a:r>
                    </a:p>
                  </a:txBody>
                  <a:tcPr marT="50800" marB="50800" marL="76200" marR="76200">
                    <a:solidFill>
                      <a:srgbClr val="18212F"/>
                    </a:solidFill>
                  </a:tcPr>
                </a:tc>
                <a:tc>
                  <a:txBody>
                    <a:bodyPr/>
                    <a:lstStyle/>
                    <a:p>
                      <a:pPr>
                        <a:defRPr sz="1000">
                          <a:solidFill>
                            <a:srgbClr val="94A3B8"/>
                          </a:solidFill>
                          <a:latin typeface="Arial"/>
                        </a:defRPr>
                      </a:pPr>
                      <a:r>
                        <a:t>DVWA – SQL Injection</a:t>
                      </a:r>
                    </a:p>
                  </a:txBody>
                  <a:tcPr marT="50800" marB="50800" marL="76200" marR="76200">
                    <a:solidFill>
                      <a:srgbClr val="18212F"/>
                    </a:solidFill>
                  </a:tcPr>
                </a:tc>
                <a:tc>
                  <a:txBody>
                    <a:bodyPr/>
                    <a:lstStyle/>
                    <a:p>
                      <a:pPr>
                        <a:defRPr sz="1000" b="1">
                          <a:solidFill>
                            <a:srgbClr val="EF4444"/>
                          </a:solidFill>
                          <a:latin typeface="Arial"/>
                        </a:defRPr>
                      </a:pPr>
                      <a:r>
                        <a:t>High</a:t>
                      </a:r>
                    </a:p>
                  </a:txBody>
                  <a:tcPr marT="50800" marB="50800" marL="76200" marR="76200">
                    <a:solidFill>
                      <a:srgbClr val="18212F"/>
                    </a:solidFill>
                  </a:tcPr>
                </a:tc>
                <a:tc>
                  <a:txBody>
                    <a:bodyPr/>
                    <a:lstStyle/>
                    <a:p>
                      <a:pPr>
                        <a:defRPr sz="1000">
                          <a:solidFill>
                            <a:srgbClr val="94A3B8"/>
                          </a:solidFill>
                          <a:latin typeface="Arial"/>
                        </a:defRPr>
                      </a:pPr>
                      <a:r>
                        <a:t>Direct parameter concatenation; allows complete database extraction &amp; auth bypass.</a:t>
                      </a:r>
                    </a:p>
                  </a:txBody>
                  <a:tcPr marT="50800" marB="50800" marL="76200" marR="76200">
                    <a:solidFill>
                      <a:srgbClr val="18212F"/>
                    </a:solidFill>
                  </a:tcPr>
                </a:tc>
              </a:tr>
              <a:tr h="548640">
                <a:tc>
                  <a:txBody>
                    <a:bodyPr/>
                    <a:lstStyle/>
                    <a:p>
                      <a:pPr>
                        <a:defRPr sz="1000">
                          <a:solidFill>
                            <a:srgbClr val="94A3B8"/>
                          </a:solidFill>
                          <a:latin typeface="Arial"/>
                        </a:defRPr>
                      </a:pPr>
                      <a:r>
                        <a:t>2</a:t>
                      </a:r>
                    </a:p>
                  </a:txBody>
                  <a:tcPr marT="50800" marB="50800" marL="76200" marR="76200">
                    <a:solidFill>
                      <a:srgbClr val="121A26"/>
                    </a:solidFill>
                  </a:tcPr>
                </a:tc>
                <a:tc>
                  <a:txBody>
                    <a:bodyPr/>
                    <a:lstStyle/>
                    <a:p>
                      <a:pPr>
                        <a:defRPr sz="1000" b="1">
                          <a:solidFill>
                            <a:srgbClr val="F8FAFC"/>
                          </a:solidFill>
                          <a:latin typeface="Arial"/>
                        </a:defRPr>
                      </a:pPr>
                      <a:r>
                        <a:t>Reflected XSS</a:t>
                      </a:r>
                    </a:p>
                  </a:txBody>
                  <a:tcPr marT="50800" marB="50800" marL="76200" marR="76200">
                    <a:solidFill>
                      <a:srgbClr val="121A26"/>
                    </a:solidFill>
                  </a:tcPr>
                </a:tc>
                <a:tc>
                  <a:txBody>
                    <a:bodyPr/>
                    <a:lstStyle/>
                    <a:p>
                      <a:pPr>
                        <a:defRPr sz="1000">
                          <a:solidFill>
                            <a:srgbClr val="94A3B8"/>
                          </a:solidFill>
                          <a:latin typeface="Arial"/>
                        </a:defRPr>
                      </a:pPr>
                      <a:r>
                        <a:t>DVWA – XSS (Reflected)</a:t>
                      </a:r>
                    </a:p>
                  </a:txBody>
                  <a:tcPr marT="50800" marB="50800" marL="76200" marR="76200">
                    <a:solidFill>
                      <a:srgbClr val="121A26"/>
                    </a:solidFill>
                  </a:tcPr>
                </a:tc>
                <a:tc>
                  <a:txBody>
                    <a:bodyPr/>
                    <a:lstStyle/>
                    <a:p>
                      <a:pPr>
                        <a:defRPr sz="1000" b="1">
                          <a:solidFill>
                            <a:srgbClr val="EF4444"/>
                          </a:solidFill>
                          <a:latin typeface="Arial"/>
                        </a:defRPr>
                      </a:pPr>
                      <a:r>
                        <a:t>High</a:t>
                      </a:r>
                    </a:p>
                  </a:txBody>
                  <a:tcPr marT="50800" marB="50800" marL="76200" marR="76200">
                    <a:solidFill>
                      <a:srgbClr val="121A26"/>
                    </a:solidFill>
                  </a:tcPr>
                </a:tc>
                <a:tc>
                  <a:txBody>
                    <a:bodyPr/>
                    <a:lstStyle/>
                    <a:p>
                      <a:pPr>
                        <a:defRPr sz="1000">
                          <a:solidFill>
                            <a:srgbClr val="94A3B8"/>
                          </a:solidFill>
                          <a:latin typeface="Arial"/>
                        </a:defRPr>
                      </a:pPr>
                      <a:r>
                        <a:t>Unsanitized input echoed in response; executes arbitrary JavaScript in victim browser.</a:t>
                      </a:r>
                    </a:p>
                  </a:txBody>
                  <a:tcPr marT="50800" marB="50800" marL="76200" marR="76200">
                    <a:solidFill>
                      <a:srgbClr val="121A26"/>
                    </a:solidFill>
                  </a:tcPr>
                </a:tc>
              </a:tr>
              <a:tr h="548640">
                <a:tc>
                  <a:txBody>
                    <a:bodyPr/>
                    <a:lstStyle/>
                    <a:p>
                      <a:pPr>
                        <a:defRPr sz="1000">
                          <a:solidFill>
                            <a:srgbClr val="94A3B8"/>
                          </a:solidFill>
                          <a:latin typeface="Arial"/>
                        </a:defRPr>
                      </a:pPr>
                      <a:r>
                        <a:t>3</a:t>
                      </a:r>
                    </a:p>
                  </a:txBody>
                  <a:tcPr marT="50800" marB="50800" marL="76200" marR="76200">
                    <a:solidFill>
                      <a:srgbClr val="18212F"/>
                    </a:solidFill>
                  </a:tcPr>
                </a:tc>
                <a:tc>
                  <a:txBody>
                    <a:bodyPr/>
                    <a:lstStyle/>
                    <a:p>
                      <a:pPr>
                        <a:defRPr sz="1000" b="1">
                          <a:solidFill>
                            <a:srgbClr val="F8FAFC"/>
                          </a:solidFill>
                          <a:latin typeface="Arial"/>
                        </a:defRPr>
                      </a:pPr>
                      <a:r>
                        <a:t>Stored XSS</a:t>
                      </a:r>
                    </a:p>
                  </a:txBody>
                  <a:tcPr marT="50800" marB="50800" marL="76200" marR="76200">
                    <a:solidFill>
                      <a:srgbClr val="18212F"/>
                    </a:solidFill>
                  </a:tcPr>
                </a:tc>
                <a:tc>
                  <a:txBody>
                    <a:bodyPr/>
                    <a:lstStyle/>
                    <a:p>
                      <a:pPr>
                        <a:defRPr sz="1000">
                          <a:solidFill>
                            <a:srgbClr val="94A3B8"/>
                          </a:solidFill>
                          <a:latin typeface="Arial"/>
                        </a:defRPr>
                      </a:pPr>
                      <a:r>
                        <a:t>DVWA – XSS (Stored) Guestbook</a:t>
                      </a:r>
                    </a:p>
                  </a:txBody>
                  <a:tcPr marT="50800" marB="50800" marL="76200" marR="76200">
                    <a:solidFill>
                      <a:srgbClr val="18212F"/>
                    </a:solidFill>
                  </a:tcPr>
                </a:tc>
                <a:tc>
                  <a:txBody>
                    <a:bodyPr/>
                    <a:lstStyle/>
                    <a:p>
                      <a:pPr>
                        <a:defRPr sz="1000" b="1">
                          <a:solidFill>
                            <a:srgbClr val="EF4444"/>
                          </a:solidFill>
                          <a:latin typeface="Arial"/>
                        </a:defRPr>
                      </a:pPr>
                      <a:r>
                        <a:t>High</a:t>
                      </a:r>
                    </a:p>
                  </a:txBody>
                  <a:tcPr marT="50800" marB="50800" marL="76200" marR="76200">
                    <a:solidFill>
                      <a:srgbClr val="18212F"/>
                    </a:solidFill>
                  </a:tcPr>
                </a:tc>
                <a:tc>
                  <a:txBody>
                    <a:bodyPr/>
                    <a:lstStyle/>
                    <a:p>
                      <a:pPr>
                        <a:defRPr sz="1000">
                          <a:solidFill>
                            <a:srgbClr val="94A3B8"/>
                          </a:solidFill>
                          <a:latin typeface="Arial"/>
                        </a:defRPr>
                      </a:pPr>
                      <a:r>
                        <a:t>Malicious payload persisted into database; triggers for all subsequent site visitors.</a:t>
                      </a:r>
                    </a:p>
                  </a:txBody>
                  <a:tcPr marT="50800" marB="50800" marL="76200" marR="76200">
                    <a:solidFill>
                      <a:srgbClr val="18212F"/>
                    </a:solidFill>
                  </a:tcPr>
                </a:tc>
              </a:tr>
              <a:tr h="548640">
                <a:tc>
                  <a:txBody>
                    <a:bodyPr/>
                    <a:lstStyle/>
                    <a:p>
                      <a:pPr>
                        <a:defRPr sz="1000">
                          <a:solidFill>
                            <a:srgbClr val="94A3B8"/>
                          </a:solidFill>
                          <a:latin typeface="Arial"/>
                        </a:defRPr>
                      </a:pPr>
                      <a:r>
                        <a:t>4</a:t>
                      </a:r>
                    </a:p>
                  </a:txBody>
                  <a:tcPr marT="50800" marB="50800" marL="76200" marR="76200">
                    <a:solidFill>
                      <a:srgbClr val="121A26"/>
                    </a:solidFill>
                  </a:tcPr>
                </a:tc>
                <a:tc>
                  <a:txBody>
                    <a:bodyPr/>
                    <a:lstStyle/>
                    <a:p>
                      <a:pPr>
                        <a:defRPr sz="1000" b="1">
                          <a:solidFill>
                            <a:srgbClr val="F8FAFC"/>
                          </a:solidFill>
                          <a:latin typeface="Arial"/>
                        </a:defRPr>
                      </a:pPr>
                      <a:r>
                        <a:t>Broken Authentication</a:t>
                      </a:r>
                    </a:p>
                  </a:txBody>
                  <a:tcPr marT="50800" marB="50800" marL="76200" marR="76200">
                    <a:solidFill>
                      <a:srgbClr val="121A26"/>
                    </a:solidFill>
                  </a:tcPr>
                </a:tc>
                <a:tc>
                  <a:txBody>
                    <a:bodyPr/>
                    <a:lstStyle/>
                    <a:p>
                      <a:pPr>
                        <a:defRPr sz="1000">
                          <a:solidFill>
                            <a:srgbClr val="94A3B8"/>
                          </a:solidFill>
                          <a:latin typeface="Arial"/>
                        </a:defRPr>
                      </a:pPr>
                      <a:r>
                        <a:t>DVWA – Login / Brute Force</a:t>
                      </a:r>
                    </a:p>
                  </a:txBody>
                  <a:tcPr marT="50800" marB="50800" marL="76200" marR="76200">
                    <a:solidFill>
                      <a:srgbClr val="121A26"/>
                    </a:solidFill>
                  </a:tcPr>
                </a:tc>
                <a:tc>
                  <a:txBody>
                    <a:bodyPr/>
                    <a:lstStyle/>
                    <a:p>
                      <a:pPr>
                        <a:defRPr sz="1000" b="1">
                          <a:solidFill>
                            <a:srgbClr val="F59E0B"/>
                          </a:solidFill>
                          <a:latin typeface="Arial"/>
                        </a:defRPr>
                      </a:pPr>
                      <a:r>
                        <a:t>Medium</a:t>
                      </a:r>
                    </a:p>
                  </a:txBody>
                  <a:tcPr marT="50800" marB="50800" marL="76200" marR="76200">
                    <a:solidFill>
                      <a:srgbClr val="121A26"/>
                    </a:solidFill>
                  </a:tcPr>
                </a:tc>
                <a:tc>
                  <a:txBody>
                    <a:bodyPr/>
                    <a:lstStyle/>
                    <a:p>
                      <a:pPr>
                        <a:defRPr sz="1000">
                          <a:solidFill>
                            <a:srgbClr val="94A3B8"/>
                          </a:solidFill>
                          <a:latin typeface="Arial"/>
                        </a:defRPr>
                      </a:pPr>
                      <a:r>
                        <a:t>Absence of account lockout or rate limiting; vulnerable to automated brute-force attacks.</a:t>
                      </a:r>
                    </a:p>
                  </a:txBody>
                  <a:tcPr marT="50800" marB="50800" marL="76200" marR="76200">
                    <a:solidFill>
                      <a:srgbClr val="121A26"/>
                    </a:solidFill>
                  </a:tcPr>
                </a:tc>
              </a:tr>
              <a:tr h="548640">
                <a:tc>
                  <a:txBody>
                    <a:bodyPr/>
                    <a:lstStyle/>
                    <a:p>
                      <a:pPr>
                        <a:defRPr sz="1000">
                          <a:solidFill>
                            <a:srgbClr val="94A3B8"/>
                          </a:solidFill>
                          <a:latin typeface="Arial"/>
                        </a:defRPr>
                      </a:pPr>
                      <a:r>
                        <a:t>5</a:t>
                      </a:r>
                    </a:p>
                  </a:txBody>
                  <a:tcPr marT="50800" marB="50800" marL="76200" marR="76200">
                    <a:solidFill>
                      <a:srgbClr val="18212F"/>
                    </a:solidFill>
                  </a:tcPr>
                </a:tc>
                <a:tc>
                  <a:txBody>
                    <a:bodyPr/>
                    <a:lstStyle/>
                    <a:p>
                      <a:pPr>
                        <a:defRPr sz="1000" b="1">
                          <a:solidFill>
                            <a:srgbClr val="F8FAFC"/>
                          </a:solidFill>
                          <a:latin typeface="Arial"/>
                        </a:defRPr>
                      </a:pPr>
                      <a:r>
                        <a:t>Security Misconfiguration</a:t>
                      </a:r>
                    </a:p>
                  </a:txBody>
                  <a:tcPr marT="50800" marB="50800" marL="76200" marR="76200">
                    <a:solidFill>
                      <a:srgbClr val="18212F"/>
                    </a:solidFill>
                  </a:tcPr>
                </a:tc>
                <a:tc>
                  <a:txBody>
                    <a:bodyPr/>
                    <a:lstStyle/>
                    <a:p>
                      <a:pPr>
                        <a:defRPr sz="1000">
                          <a:solidFill>
                            <a:srgbClr val="94A3B8"/>
                          </a:solidFill>
                          <a:latin typeface="Arial"/>
                        </a:defRPr>
                      </a:pPr>
                      <a:r>
                        <a:t>Server / DVWA Configuration</a:t>
                      </a:r>
                    </a:p>
                  </a:txBody>
                  <a:tcPr marT="50800" marB="50800" marL="76200" marR="76200">
                    <a:solidFill>
                      <a:srgbClr val="18212F"/>
                    </a:solidFill>
                  </a:tcPr>
                </a:tc>
                <a:tc>
                  <a:txBody>
                    <a:bodyPr/>
                    <a:lstStyle/>
                    <a:p>
                      <a:pPr>
                        <a:defRPr sz="1000" b="1">
                          <a:solidFill>
                            <a:srgbClr val="F59E0B"/>
                          </a:solidFill>
                          <a:latin typeface="Arial"/>
                        </a:defRPr>
                      </a:pPr>
                      <a:r>
                        <a:t>Medium</a:t>
                      </a:r>
                    </a:p>
                  </a:txBody>
                  <a:tcPr marT="50800" marB="50800" marL="76200" marR="76200">
                    <a:solidFill>
                      <a:srgbClr val="18212F"/>
                    </a:solidFill>
                  </a:tcPr>
                </a:tc>
                <a:tc>
                  <a:txBody>
                    <a:bodyPr/>
                    <a:lstStyle/>
                    <a:p>
                      <a:pPr>
                        <a:defRPr sz="1000">
                          <a:solidFill>
                            <a:srgbClr val="94A3B8"/>
                          </a:solidFill>
                          <a:latin typeface="Arial"/>
                        </a:defRPr>
                      </a:pPr>
                      <a:r>
                        <a:t>Outdated PHP components and verbose error messages reveal server &amp; database architecture.</a:t>
                      </a:r>
                    </a:p>
                  </a:txBody>
                  <a:tcPr marT="50800" marB="50800" marL="76200" marR="76200">
                    <a:solidFill>
                      <a:srgbClr val="18212F"/>
                    </a:solidFill>
                  </a:tcPr>
                </a:tc>
              </a:tr>
              <a:tr h="548640">
                <a:tc>
                  <a:txBody>
                    <a:bodyPr/>
                    <a:lstStyle/>
                    <a:p>
                      <a:pPr>
                        <a:defRPr sz="1000">
                          <a:solidFill>
                            <a:srgbClr val="94A3B8"/>
                          </a:solidFill>
                          <a:latin typeface="Arial"/>
                        </a:defRPr>
                      </a:pPr>
                      <a:r>
                        <a:t>6</a:t>
                      </a:r>
                    </a:p>
                  </a:txBody>
                  <a:tcPr marT="50800" marB="50800" marL="76200" marR="76200">
                    <a:solidFill>
                      <a:srgbClr val="121A26"/>
                    </a:solidFill>
                  </a:tcPr>
                </a:tc>
                <a:tc>
                  <a:txBody>
                    <a:bodyPr/>
                    <a:lstStyle/>
                    <a:p>
                      <a:pPr>
                        <a:defRPr sz="1000" b="1">
                          <a:solidFill>
                            <a:srgbClr val="F8FAFC"/>
                          </a:solidFill>
                          <a:latin typeface="Arial"/>
                        </a:defRPr>
                      </a:pPr>
                      <a:r>
                        <a:t>Missing Security Headers</a:t>
                      </a:r>
                    </a:p>
                  </a:txBody>
                  <a:tcPr marT="50800" marB="50800" marL="76200" marR="76200">
                    <a:solidFill>
                      <a:srgbClr val="121A26"/>
                    </a:solidFill>
                  </a:tcPr>
                </a:tc>
                <a:tc>
                  <a:txBody>
                    <a:bodyPr/>
                    <a:lstStyle/>
                    <a:p>
                      <a:pPr>
                        <a:defRPr sz="1000">
                          <a:solidFill>
                            <a:srgbClr val="94A3B8"/>
                          </a:solidFill>
                          <a:latin typeface="Arial"/>
                        </a:defRPr>
                      </a:pPr>
                      <a:r>
                        <a:t>Application-wide (OWASP ZAP)</a:t>
                      </a:r>
                    </a:p>
                  </a:txBody>
                  <a:tcPr marT="50800" marB="50800" marL="76200" marR="76200">
                    <a:solidFill>
                      <a:srgbClr val="121A26"/>
                    </a:solidFill>
                  </a:tcPr>
                </a:tc>
                <a:tc>
                  <a:txBody>
                    <a:bodyPr/>
                    <a:lstStyle/>
                    <a:p>
                      <a:pPr>
                        <a:defRPr sz="1000" b="1">
                          <a:solidFill>
                            <a:srgbClr val="3B82F6"/>
                          </a:solidFill>
                          <a:latin typeface="Arial"/>
                        </a:defRPr>
                      </a:pPr>
                      <a:r>
                        <a:t>Low</a:t>
                      </a:r>
                    </a:p>
                  </a:txBody>
                  <a:tcPr marT="50800" marB="50800" marL="76200" marR="76200">
                    <a:solidFill>
                      <a:srgbClr val="121A26"/>
                    </a:solidFill>
                  </a:tcPr>
                </a:tc>
                <a:tc>
                  <a:txBody>
                    <a:bodyPr/>
                    <a:lstStyle/>
                    <a:p>
                      <a:pPr>
                        <a:defRPr sz="1000">
                          <a:solidFill>
                            <a:srgbClr val="94A3B8"/>
                          </a:solidFill>
                          <a:latin typeface="Arial"/>
                        </a:defRPr>
                      </a:pPr>
                      <a:r>
                        <a:t>Absence of CSP, X-Frame-Options, and X-Content-Type-Options weakens defense-in-depth.</a:t>
                      </a:r>
                    </a:p>
                  </a:txBody>
                  <a:tcPr marT="50800" marB="50800" marL="76200" marR="76200">
                    <a:solidFill>
                      <a:srgbClr val="121A26"/>
                    </a:solidFill>
                  </a:tcPr>
                </a:tc>
              </a:tr>
            </a:tbl>
          </a:graphicData>
        </a:graphic>
      </p:graphicFrame>
      <p:sp>
        <p:nvSpPr>
          <p:cNvPr id="6" name="Rounded Rectangle 5"/>
          <p:cNvSpPr/>
          <p:nvPr/>
        </p:nvSpPr>
        <p:spPr>
          <a:xfrm>
            <a:off x="731520" y="562356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669280"/>
            <a:ext cx="10362895" cy="685800"/>
          </a:xfrm>
          <a:prstGeom prst="rect">
            <a:avLst/>
          </a:prstGeom>
          <a:noFill/>
        </p:spPr>
        <p:txBody>
          <a:bodyPr wrap="square">
            <a:spAutoFit/>
          </a:bodyPr>
          <a:lstStyle/>
          <a:p>
            <a:pPr>
              <a:defRPr sz="1050" b="1">
                <a:solidFill>
                  <a:srgbClr val="10B981"/>
                </a:solidFill>
                <a:latin typeface="Trebuchet MS"/>
              </a:defRPr>
            </a:pPr>
            <a:r>
              <a:t>RISK RATING METHODOLOGY (OWASP LIKELIHOOD × IMPACT):</a:t>
            </a:r>
          </a:p>
          <a:p>
            <a:pPr>
              <a:spcBef>
                <a:spcPts val="200"/>
              </a:spcBef>
              <a:defRPr sz="950">
                <a:solidFill>
                  <a:srgbClr val="64748B"/>
                </a:solidFill>
                <a:latin typeface="Arial"/>
              </a:defRPr>
            </a:pPr>
            <a:r>
              <a:t>• High: Easily exploitable with critical impact on data confidentiality/integrity • Medium: Requires prerequisites/user interaction with moderate impact • Low: Weakens defense-in-depth posture.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REMEDIATION &amp; SECURE ARCHITECTURE</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Comprehensive Defense Requires Query Parameterization, Encoding, and Hardening</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12080" cy="22402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46320" cy="1965960"/>
          </a:xfrm>
          <a:prstGeom prst="rect">
            <a:avLst/>
          </a:prstGeom>
          <a:noFill/>
        </p:spPr>
        <p:txBody>
          <a:bodyPr wrap="square">
            <a:spAutoFit/>
          </a:bodyPr>
          <a:lstStyle/>
          <a:p>
            <a:pPr>
              <a:defRPr sz="1100" b="1">
                <a:solidFill>
                  <a:srgbClr val="EF4444"/>
                </a:solidFill>
                <a:latin typeface="Trebuchet MS"/>
              </a:defRPr>
            </a:pPr>
            <a:r>
              <a:t>SQL INJECTION REMEDIATION</a:t>
            </a:r>
          </a:p>
          <a:p>
            <a:pPr>
              <a:spcBef>
                <a:spcPts val="400"/>
              </a:spcBef>
              <a:defRPr sz="950">
                <a:solidFill>
                  <a:srgbClr val="94A3B8"/>
                </a:solidFill>
                <a:latin typeface="Arial"/>
              </a:defRPr>
            </a:pPr>
            <a:r>
              <a:t>• Parameterized Queries: Enforce prepared statements (e.g. PDO in PHP) to separate code from user data.</a:t>
            </a:r>
          </a:p>
          <a:p>
            <a:pPr>
              <a:spcBef>
                <a:spcPts val="400"/>
              </a:spcBef>
              <a:defRPr sz="950">
                <a:solidFill>
                  <a:srgbClr val="94A3B8"/>
                </a:solidFill>
                <a:latin typeface="Arial"/>
              </a:defRPr>
            </a:pPr>
            <a:r>
              <a:t>• Least-Privilege DB: Restrict database user permissions to only required tables and operations.</a:t>
            </a:r>
          </a:p>
          <a:p>
            <a:pPr>
              <a:spcBef>
                <a:spcPts val="400"/>
              </a:spcBef>
              <a:defRPr sz="950">
                <a:solidFill>
                  <a:srgbClr val="94A3B8"/>
                </a:solidFill>
                <a:latin typeface="Arial"/>
              </a:defRPr>
            </a:pPr>
            <a:r>
              <a:t>• Disable Verbose Errors: Suppress database error traces in production to prevent schema disclosure.</a:t>
            </a:r>
          </a:p>
        </p:txBody>
      </p:sp>
      <p:sp>
        <p:nvSpPr>
          <p:cNvPr id="7" name="Rounded Rectangle 6"/>
          <p:cNvSpPr/>
          <p:nvPr/>
        </p:nvSpPr>
        <p:spPr>
          <a:xfrm>
            <a:off x="6248095" y="1645920"/>
            <a:ext cx="5212080" cy="22402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1783080"/>
            <a:ext cx="4846320" cy="1965960"/>
          </a:xfrm>
          <a:prstGeom prst="rect">
            <a:avLst/>
          </a:prstGeom>
          <a:noFill/>
        </p:spPr>
        <p:txBody>
          <a:bodyPr wrap="square">
            <a:spAutoFit/>
          </a:bodyPr>
          <a:lstStyle/>
          <a:p>
            <a:pPr>
              <a:defRPr sz="1100" b="1">
                <a:solidFill>
                  <a:srgbClr val="EF4444"/>
                </a:solidFill>
                <a:latin typeface="Trebuchet MS"/>
              </a:defRPr>
            </a:pPr>
            <a:r>
              <a:t>CROSS-SITE SCRIPTING (XSS) DEFENSE</a:t>
            </a:r>
          </a:p>
          <a:p>
            <a:pPr>
              <a:spcBef>
                <a:spcPts val="400"/>
              </a:spcBef>
              <a:defRPr sz="950">
                <a:solidFill>
                  <a:srgbClr val="94A3B8"/>
                </a:solidFill>
                <a:latin typeface="Arial"/>
              </a:defRPr>
            </a:pPr>
            <a:r>
              <a:t>• Context-Aware Encoding: Encode all untrusted data before rendering in HTML, JS, or URL contexts.</a:t>
            </a:r>
          </a:p>
          <a:p>
            <a:pPr>
              <a:spcBef>
                <a:spcPts val="400"/>
              </a:spcBef>
              <a:defRPr sz="950">
                <a:solidFill>
                  <a:srgbClr val="94A3B8"/>
                </a:solidFill>
                <a:latin typeface="Arial"/>
              </a:defRPr>
            </a:pPr>
            <a:r>
              <a:t>• Content Security Policy: Implement strict CSP headers to restrict unauthorized script execution sources.</a:t>
            </a:r>
          </a:p>
          <a:p>
            <a:pPr>
              <a:spcBef>
                <a:spcPts val="400"/>
              </a:spcBef>
              <a:defRPr sz="950">
                <a:solidFill>
                  <a:srgbClr val="94A3B8"/>
                </a:solidFill>
                <a:latin typeface="Arial"/>
              </a:defRPr>
            </a:pPr>
            <a:r>
              <a:t>• HttpOnly &amp; Secure Cookies: Set flags on session cookies to block access via client-side JavaScript.</a:t>
            </a:r>
          </a:p>
        </p:txBody>
      </p:sp>
      <p:sp>
        <p:nvSpPr>
          <p:cNvPr id="9" name="Rounded Rectangle 8"/>
          <p:cNvSpPr/>
          <p:nvPr/>
        </p:nvSpPr>
        <p:spPr>
          <a:xfrm>
            <a:off x="731520" y="4069080"/>
            <a:ext cx="5212080" cy="22402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06240"/>
            <a:ext cx="4846320" cy="1965960"/>
          </a:xfrm>
          <a:prstGeom prst="rect">
            <a:avLst/>
          </a:prstGeom>
          <a:noFill/>
        </p:spPr>
        <p:txBody>
          <a:bodyPr wrap="square">
            <a:spAutoFit/>
          </a:bodyPr>
          <a:lstStyle/>
          <a:p>
            <a:pPr>
              <a:defRPr sz="1100" b="1">
                <a:solidFill>
                  <a:srgbClr val="F59E0B"/>
                </a:solidFill>
                <a:latin typeface="Trebuchet MS"/>
              </a:defRPr>
            </a:pPr>
            <a:r>
              <a:t>AUTHENTICATION HARDENING</a:t>
            </a:r>
          </a:p>
          <a:p>
            <a:pPr>
              <a:spcBef>
                <a:spcPts val="400"/>
              </a:spcBef>
              <a:defRPr sz="950">
                <a:solidFill>
                  <a:srgbClr val="94A3B8"/>
                </a:solidFill>
                <a:latin typeface="Arial"/>
              </a:defRPr>
            </a:pPr>
            <a:r>
              <a:t>• Lockout &amp; Rate Limiting: Enforce account lockouts and CAPTCHA after repeated failed login attempts.</a:t>
            </a:r>
          </a:p>
          <a:p>
            <a:pPr>
              <a:spcBef>
                <a:spcPts val="400"/>
              </a:spcBef>
              <a:defRPr sz="950">
                <a:solidFill>
                  <a:srgbClr val="94A3B8"/>
                </a:solidFill>
                <a:latin typeface="Arial"/>
              </a:defRPr>
            </a:pPr>
            <a:r>
              <a:t>• Multi-Factor Auth (MFA): Implement MFA to mitigate single-factor credential compromise.</a:t>
            </a:r>
          </a:p>
          <a:p>
            <a:pPr>
              <a:spcBef>
                <a:spcPts val="400"/>
              </a:spcBef>
              <a:defRPr sz="950">
                <a:solidFill>
                  <a:srgbClr val="94A3B8"/>
                </a:solidFill>
                <a:latin typeface="Arial"/>
              </a:defRPr>
            </a:pPr>
            <a:r>
              <a:t>• Salted Password Hashing: Store credentials using modern, robust hashing algorithms (bcrypt, Argon2).</a:t>
            </a:r>
          </a:p>
        </p:txBody>
      </p:sp>
      <p:sp>
        <p:nvSpPr>
          <p:cNvPr id="11" name="Rounded Rectangle 10"/>
          <p:cNvSpPr/>
          <p:nvPr/>
        </p:nvSpPr>
        <p:spPr>
          <a:xfrm>
            <a:off x="6248095" y="4069080"/>
            <a:ext cx="5212080" cy="224028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4206240"/>
            <a:ext cx="4846320" cy="1965960"/>
          </a:xfrm>
          <a:prstGeom prst="rect">
            <a:avLst/>
          </a:prstGeom>
          <a:noFill/>
        </p:spPr>
        <p:txBody>
          <a:bodyPr wrap="square">
            <a:spAutoFit/>
          </a:bodyPr>
          <a:lstStyle/>
          <a:p>
            <a:pPr>
              <a:defRPr sz="1100" b="1">
                <a:solidFill>
                  <a:srgbClr val="3B82F6"/>
                </a:solidFill>
                <a:latin typeface="Trebuchet MS"/>
              </a:defRPr>
            </a:pPr>
            <a:r>
              <a:t>SERVER &amp; ENVIRONMENT HARDENING</a:t>
            </a:r>
          </a:p>
          <a:p>
            <a:pPr>
              <a:spcBef>
                <a:spcPts val="400"/>
              </a:spcBef>
              <a:defRPr sz="950">
                <a:solidFill>
                  <a:srgbClr val="94A3B8"/>
                </a:solidFill>
                <a:latin typeface="Arial"/>
              </a:defRPr>
            </a:pPr>
            <a:r>
              <a:t>• Disable Default Assets: Remove default credentials, sample files, and disable directory browsing.</a:t>
            </a:r>
          </a:p>
          <a:p>
            <a:pPr>
              <a:spcBef>
                <a:spcPts val="400"/>
              </a:spcBef>
              <a:defRPr sz="950">
                <a:solidFill>
                  <a:srgbClr val="94A3B8"/>
                </a:solidFill>
                <a:latin typeface="Arial"/>
              </a:defRPr>
            </a:pPr>
            <a:r>
              <a:t>• Enforce Security Headers: Deploy X-Frame-Options, X-Content-Type-Options, and HSTS across all pages.</a:t>
            </a:r>
          </a:p>
          <a:p>
            <a:pPr>
              <a:spcBef>
                <a:spcPts val="400"/>
              </a:spcBef>
              <a:defRPr sz="950">
                <a:solidFill>
                  <a:srgbClr val="94A3B8"/>
                </a:solidFill>
                <a:latin typeface="Arial"/>
              </a:defRPr>
            </a:pPr>
            <a:r>
              <a:t>• Automated Hardening: Integrate automated baseline configuration checks into CI/CD deployment pipelines.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06B6D4"/>
                </a:solidFill>
                <a:latin typeface="Trebuchet MS"/>
              </a:defRPr>
            </a:pPr>
            <a:r>
              <a:t>EXECUTIVE TAKEAWAYS &amp; SYNTHESIS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200" b="1">
                <a:solidFill>
                  <a:srgbClr val="F8FAFC"/>
                </a:solidFill>
                <a:latin typeface="Trebuchet MS"/>
              </a:defRPr>
            </a:pPr>
            <a:r>
              <a:t>Combining Manual Penetration Testing with Automated DAST Minimizes Breach Risk</a:t>
            </a:r>
          </a:p>
        </p:txBody>
      </p:sp>
      <p:sp>
        <p:nvSpPr>
          <p:cNvPr id="4" name="Rectangle 3"/>
          <p:cNvSpPr/>
          <p:nvPr/>
        </p:nvSpPr>
        <p:spPr>
          <a:xfrm>
            <a:off x="731520" y="1371600"/>
            <a:ext cx="10728655" cy="1905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328416" cy="30175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EF4444"/>
                </a:solidFill>
                <a:latin typeface="Trebuchet MS"/>
              </a:defRPr>
            </a:pPr>
            <a:r>
              <a:t>COMMON ROOT CAUSE</a:t>
            </a:r>
          </a:p>
          <a:p>
            <a:pPr>
              <a:spcBef>
                <a:spcPts val="800"/>
              </a:spcBef>
              <a:defRPr sz="1100">
                <a:solidFill>
                  <a:srgbClr val="94A3B8"/>
                </a:solidFill>
                <a:latin typeface="Arial"/>
              </a:defRPr>
            </a:pPr>
            <a:r>
              <a:t>The vast majority of high-impact vulnerabilities (SQLi, XSS, Broken Auth) stem from a unified root cause: insufficient validation of untrusted input and overly permissive default server configurations.</a:t>
            </a:r>
          </a:p>
        </p:txBody>
      </p:sp>
      <p:sp>
        <p:nvSpPr>
          <p:cNvPr id="6" name="Rounded Rectangle 5"/>
          <p:cNvSpPr/>
          <p:nvPr/>
        </p:nvSpPr>
        <p:spPr>
          <a:xfrm>
            <a:off x="4425696" y="1645920"/>
            <a:ext cx="3328416" cy="30175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06B6D4"/>
                </a:solidFill>
                <a:latin typeface="Trebuchet MS"/>
              </a:defRPr>
            </a:pPr>
            <a:r>
              <a:t>COMPLEMENTARY VALUE</a:t>
            </a:r>
          </a:p>
          <a:p>
            <a:pPr>
              <a:spcBef>
                <a:spcPts val="800"/>
              </a:spcBef>
              <a:defRPr sz="1100">
                <a:solidFill>
                  <a:srgbClr val="94A3B8"/>
                </a:solidFill>
                <a:latin typeface="Arial"/>
              </a:defRPr>
            </a:pPr>
            <a:r>
              <a:t>Automated tools (OWASP ZAP) excel at rapid coverage and finding missing headers. Manual testing (Burp Suite) is indispensable for business logic flaws, custom evasion, and true-positive validation.</a:t>
            </a:r>
          </a:p>
        </p:txBody>
      </p:sp>
      <p:sp>
        <p:nvSpPr>
          <p:cNvPr id="7" name="Rounded Rectangle 6"/>
          <p:cNvSpPr/>
          <p:nvPr/>
        </p:nvSpPr>
        <p:spPr>
          <a:xfrm>
            <a:off x="8119872" y="1645920"/>
            <a:ext cx="3328416" cy="30175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10B981"/>
                </a:solidFill>
                <a:latin typeface="Trebuchet MS"/>
              </a:defRPr>
            </a:pPr>
            <a:r>
              <a:t>DEFENSE-IN-DEPTH</a:t>
            </a:r>
          </a:p>
          <a:p>
            <a:pPr>
              <a:spcBef>
                <a:spcPts val="800"/>
              </a:spcBef>
              <a:defRPr sz="1100">
                <a:solidFill>
                  <a:srgbClr val="94A3B8"/>
                </a:solidFill>
                <a:latin typeface="Arial"/>
              </a:defRPr>
            </a:pPr>
            <a:r>
              <a:t>Perimeter defenses are insufficient on their own. Resilient security requires secure coding standards, automated CI/CD pipeline scans, and periodic hands-on penetration tests to protect enterprise assets.</a:t>
            </a:r>
          </a:p>
        </p:txBody>
      </p:sp>
      <p:sp>
        <p:nvSpPr>
          <p:cNvPr id="8" name="Rounded Rectangle 7"/>
          <p:cNvSpPr/>
          <p:nvPr/>
        </p:nvSpPr>
        <p:spPr>
          <a:xfrm>
            <a:off x="731520" y="4846320"/>
            <a:ext cx="10728655" cy="14630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983480"/>
            <a:ext cx="10180015" cy="1188720"/>
          </a:xfrm>
          <a:prstGeom prst="rect">
            <a:avLst/>
          </a:prstGeom>
          <a:noFill/>
        </p:spPr>
        <p:txBody>
          <a:bodyPr wrap="square">
            <a:spAutoFit/>
          </a:bodyPr>
          <a:lstStyle/>
          <a:p>
            <a:pPr>
              <a:defRPr sz="1200" b="1">
                <a:solidFill>
                  <a:srgbClr val="10B981"/>
                </a:solidFill>
                <a:latin typeface="Trebuchet MS"/>
              </a:defRPr>
            </a:pPr>
            <a:r>
              <a:t>INTERNSHIP PROGRAM ASSESSMENT SIGN-OFF</a:t>
            </a:r>
          </a:p>
          <a:p>
            <a:pPr>
              <a:spcBef>
                <a:spcPts val="400"/>
              </a:spcBef>
              <a:defRPr sz="1100">
                <a:solidFill>
                  <a:srgbClr val="F8FAFC"/>
                </a:solidFill>
                <a:latin typeface="Arial"/>
              </a:defRPr>
            </a:pPr>
            <a:r>
              <a:t>• Candidate: Prakhar Gupta | Role: Cybersecurity Intern | DG Interns Hub</a:t>
            </a:r>
            <a:br/>
            <a:r>
              <a:t>• Assessment: Week 6 — Web Security &amp; Vulnerability Assessment and Penetration Testing</a:t>
            </a:r>
            <a:br/>
            <a:r>
              <a:t>• Submission Date: 14/Oct/2026 | Testing Target: Damn Vulnerable Web Application (DVWA v1.9)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