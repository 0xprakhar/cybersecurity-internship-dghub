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822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Arial"/>
              </a:defRPr>
            </a:pPr>
            <a:r>
              <a:t>Week 6 – Web Security &amp; Vulnerability Testing (VAPT Basics)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82296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D4ED8"/>
                </a:solidFill>
                <a:latin typeface="Arial"/>
              </a:defRPr>
            </a:pPr>
            <a:r>
              <a:t>DG Interns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D4ED8"/>
                </a:solidFill>
                <a:latin typeface="Georgia"/>
              </a:defRPr>
            </a:pPr>
            <a:r>
              <a:t>DG INTERNS HUB</a:t>
            </a:r>
          </a:p>
          <a:p>
            <a:pPr algn="ctr">
              <a:spcBef>
                <a:spcPts val="600"/>
              </a:spcBef>
              <a:defRPr sz="1800">
                <a:solidFill>
                  <a:srgbClr val="475569"/>
                </a:solidFill>
                <a:latin typeface="Arial"/>
              </a:defRPr>
            </a:pPr>
            <a:r>
              <a:t>Cybersecurity Internship Program</a:t>
            </a:r>
          </a:p>
          <a:p>
            <a:pPr algn="ctr">
              <a:spcBef>
                <a:spcPts val="1600"/>
              </a:spcBef>
              <a:defRPr sz="1400" b="1">
                <a:solidFill>
                  <a:srgbClr val="0284C7"/>
                </a:solidFill>
                <a:latin typeface="Arial"/>
              </a:defRPr>
            </a:pPr>
            <a:r>
              <a:t>WEEK 6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F172A"/>
                </a:solidFill>
                <a:latin typeface="Georgia"/>
              </a:defRPr>
            </a:pPr>
            <a:r>
              <a:t>WEB SECURITY &amp; VULNERABILITY ASSESSMENT AND PENETRATION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572000"/>
            <a:ext cx="76196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rial"/>
              </a:defRPr>
            </a:pPr>
            <a:r>
              <a:t>Prepared By: Prakhar Gupta   |   Role: Cybersecurity Intern   |   Submission Date: 14/Oct/2026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VAPT Combines Automated Identification and Target Exploitation to Mitigate Enterprise Web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Vulnerability Assessment (VA)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Systematic Identification: Automated scanning across web applications, APIs, and host infrastructure.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Flaw Classification: Categorises weaknesses based on CVSS severity and exposure metrics.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Scope &amp; Coverage: Provides broad attack-surface mapping without active exploitation.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Penetration Testing (PT)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Targeted Exploitation: Manual validation of security controls to prove exploitability and real impact.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Attack Path Analysis: Simulates malicious adversary techniques to pivot and escalate privileges.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Breach Prevention: Validates security defenses and eliminates false positive 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82880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OWASP Top 10 Standard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Industry Consensus: Standard awareness document for developers and web security professionals.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Core Risk Categories: Highlights critical flaws including Injection, Broken Auth, and XSS.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Compliance Benchmarking: Essential baseline for ISO 27001, PCI-DSS, and SOC2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Controlled Local Security Lab Integrates DVWA, Kali Linux, FoxyProxy, and Burp Suite 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1. Target Application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DVWA Environment: Hosted locally via XAMPP stack (Apache, MySQL, PHP) or Docker.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Local Endpoint: Accessible via http://localhost:8081.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Configured Security: Set to Low Security Level to evaluate baseline input validation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2856" y="182880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2. Attack OS &amp; Proxy Switch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Kali Linux VM: Dedicated security distro providing pre-installed VAPT utilities.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Firefox Web Browser: Primary client interface configured for web application interaction.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FoxyProxy Extension: Single-click switching between direct browsing and proxy routing.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2" y="1828800"/>
            <a:ext cx="305409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3. Interception Engine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Burp Suite CE: Core intercepting proxy configured on 127.0.0.1:8080.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CA Certificate Integration: Installed PortSwigger CA cert to inspect HTTPS traffic without SSL errors.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Traffic Control: Enables real-time request/response capture and payload manipulation.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UNION SELECT Injection Bypasses Authentication and Extracts Full Database User Credentials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Vulnerability Logic &amp; Payload Execution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Target Endpoint: /vulnerabilities/sqli/ (Input parameter: id).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Baseline Syntax Check: Injected single quote (') to break SQL query structure, resulting in raw SQL syntax error.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Payload Selection: Appended 1' OR 1=1 -- to force true boolean evaluation and comment out trailing SQL logic.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Exfiltration Result: Bypassed query restrictions and extracted user accounts (admin, Gordon, Hack, Pablo, Bob) from backend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45920"/>
            <a:ext cx="5175504" cy="46634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82880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Practical Evidence &amp; Report References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Figure 2 Reference (PDF Report): Target Site Map detailing discovered endpoint parameters and site structure.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Figure 3 Reference (PDF Report): Burp Repeater window showing raw HTTP GET request with injected payload and server HTTP 200 OK response containing extracted DB hashes.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Impact Severity: CRITICAL — Allows total confidentiality loss and full database compromise.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Reflected and Stored XSS Enable Client-Side Execution, Session Hijacking, and Persistent Defacement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1. Reflected XSS (Non-Persistent)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Vector Endpoint: /vulnerabilities/xss_r/ (Parameter: name).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Execution Mechanism: Injected &lt;script&gt;alert(1)&lt;/script&gt; into input field; payload immediately echoed back in response HTML.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Attack Scenario: Delivered via malicious phishing URL links.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Figure 4 Reference: Confirms raw unescaped script tag reflection in HTTP response body.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45920"/>
            <a:ext cx="5175504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82880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2. Stored XSS (Persistent)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Vector Endpoint: /vulnerabilities/xss_s/ (Parameter: mtxMessage guestbook).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Execution Mechanism: Script stored permanently in backend MySQL database table.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Impact: Triggers automatically for every user visiting the guestbook page.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Figure 5 Reference: Browser screenshot rendering DOM pop-up modal confirming persistent execution.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Burp Proxy and Repeater Enable Real-Time HTTP Inspection and Parameter Tampering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Burp Suite Proxy Inspection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HTTP History Analysis: Logs all client-server requests, parameters, and headers automatically.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Session Cookie Inspection: Captured raw PHPSESSID tokens transmitted unencrypted over HTTP.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Intercept Control: Pauses live requests to view/modify POST data prior to server transmission.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Figure 6 Reference: Intercept view displaying captured GET request parameters and raw headers.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45920"/>
            <a:ext cx="5175504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82880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Payload Tampering via Repeater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Isolated Testing: Forwards target requests to Repeater for iterative payload tweaking.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Instant Feedback Loop: Evaluates server response codes, headers, and DOM changes side-by-side.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Bypass Validation: Skips client-side JavaScript restrictions to send custom HTTP vectors.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Figure 7 Reference: Side-by-side Repeater request and response showing crafted payload execution.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Automated DAST Crawling and Active Scanning Accelerate Attack Surface Discovery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Spider Crawling &amp; Mapping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Automated Reconnaissance: OWASP ZAP / Burp Target spider systematically crawls web pathways.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Hidden Endpoint Discovery: Maps directory structures, unlinked endpoints, and parameter inputs.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Endpoint Enumeration: Integrated directory brute-forcing (Gobuster) revealed sensitive paths (/config/, /php.ini).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Figure 8 Reference: Automated target site map grid displaying HTTP status codes and parameters.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45920"/>
            <a:ext cx="5175504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1828800"/>
            <a:ext cx="48097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D4ED8"/>
                </a:solidFill>
                <a:latin typeface="Georgia"/>
              </a:defRPr>
            </a:pPr>
            <a:r>
              <a:t>Active Scanning &amp; Risk Alerting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DAST Execution: Rule-based active scanner transmits payload bursts across all discovered inputs.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Categorized Alerts: Groups security weaknesses by risk severity (High, Medium, Low, Info).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Efficiency Gain: Rapidly highlights baseline security misconfigurations and missing headers.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  <a:latin typeface="Arial"/>
              </a:defRPr>
            </a:pPr>
            <a:r>
              <a:t>• Figure 9 Reference: Automated vulnerability scan report output summarizing parameter tampering findings.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Vulnerability Risk Matrix Identifies High-Impact Injection, XSS, and Configuration Flaws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2926080"/>
                <a:gridCol w="4053535"/>
              </a:tblGrid>
              <a:tr h="666205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Vulnerability</a:t>
                      </a:r>
                    </a:p>
                  </a:txBody>
                  <a:tcPr marL="101600" marR="101600" marT="76200" marB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Severity</a:t>
                      </a:r>
                    </a:p>
                  </a:txBody>
                  <a:tcPr marL="101600" marR="101600" marT="76200" marB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Target Endpoint / Parameter</a:t>
                      </a:r>
                    </a:p>
                  </a:txBody>
                  <a:tcPr marL="101600" marR="101600" marT="76200" marB="76200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 &amp; Proof of Concept</a:t>
                      </a:r>
                    </a:p>
                  </a:txBody>
                  <a:tcPr marL="101600" marR="101600" marT="76200" marB="76200">
                    <a:solidFill>
                      <a:srgbClr val="0F172A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SQL Injection (SQLi)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B91C1C"/>
                          </a:solidFill>
                          <a:latin typeface="Arial"/>
                        </a:defRPr>
                      </a:pPr>
                      <a:r>
                        <a:t>Critical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/vulnerabilities/sqli/ (id)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Full DB exfiltration via 1' OR 1=1 -- payload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Reflected XSS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/vulnerabilities/xss_r/ (name)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Arbitrary JS execution via &lt;script&gt;alert(1)&lt;/script&gt;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Stored XSS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C2410C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/vulnerabilities/xss_s/ (mtxMessage)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Persistent payload execution affecting all guestbook viewers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Broken Authentication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16207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/login.php (username, password)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Unencrypted HTTP credential transmission &amp; token exposure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  <a:tr h="666205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Exposed Directories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A16207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/config/, /php.ini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path exposure &amp; config leakage via Gobuster</a:t>
                      </a:r>
                    </a:p>
                  </a:txBody>
                  <a:tcPr marL="101600" marR="101600" marT="76200" marB="76200">
                    <a:solidFill>
                      <a:srgbClr val="EFF6FF"/>
                    </a:solidFill>
                  </a:tcPr>
                </a:tc>
              </a:tr>
              <a:tr h="66621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Missing Security Headers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369A1"/>
                          </a:solidFill>
                          <a:latin typeface="Arial"/>
                        </a:defRPr>
                      </a:pPr>
                      <a:r>
                        <a:t>Low / Info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Global HTTP Response Headers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Absence of Content-Security-Policy (CSP) headers</a:t>
                      </a:r>
                    </a:p>
                  </a:txBody>
                  <a:tcPr marL="101600" marR="101600" marT="76200" marB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Defense-in-Depth Requires Parameterized Queries, Output Encoding, and Strict Session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7550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90118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Georgia"/>
              </a:defRPr>
            </a:pPr>
            <a:r>
              <a:t>1. Database Security (SQLi Defense)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Parameterized Queries: Implement Prepared Statements to separate code from user inputs.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ORM Integration: Utilize secure query abstraction frameworks to sanitize data input.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645920"/>
            <a:ext cx="517550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9944" y="1783080"/>
            <a:ext cx="490118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Georgia"/>
              </a:defRPr>
            </a:pPr>
            <a:r>
              <a:t>2. Client-Side Defense (XSS Mitigation)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Contextual Encoding: Apply strict HTML/JS output encoding prior to rendering data.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Content Security Policy (CSP): Enforce HTTP CSP headers to restrict inline script execution.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7550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51960"/>
            <a:ext cx="490118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Georgia"/>
              </a:defRPr>
            </a:pPr>
            <a:r>
              <a:t>3. Authentication &amp; Session Hardening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Encrypted Transport: Mandate HTTPS/TLS for all credential and token transmissions.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Cookie Flags: Set HttpOnly, Secure, and SameSite flags on all PHPSESSID session tokens.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2784" y="4114800"/>
            <a:ext cx="5175504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4251960"/>
            <a:ext cx="490118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D4ED8"/>
                </a:solidFill>
                <a:latin typeface="Georgia"/>
              </a:defRPr>
            </a:pPr>
            <a:r>
              <a:t>4. Web Server Hardening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Directory Browsing: Disable directory indexing across Apache/IIS web server configs.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  <a:latin typeface="Arial"/>
              </a:defRPr>
            </a:pPr>
            <a:r>
              <a:t>• Sensitive Files: Remove config files (/php.ini) from web root; suppress server banners.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D4ED8"/>
                </a:solidFill>
                <a:latin typeface="Arial"/>
              </a:defRPr>
            </a:pPr>
            <a:r>
              <a:t>WEEK 6 VAPT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Combining Manual Testing and DAST Delivers Comprehensive Enterprise Web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Georgia"/>
              </a:defRPr>
            </a:pPr>
            <a:r>
              <a:t>1. Hybrid Testing Synergy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Manual security testing via Burp Repeater validates business logic and complex attack paths, while automated DAST scanners ensure baseline coverage across large application attack surfaces.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Georgia"/>
              </a:defRPr>
            </a:pPr>
            <a:r>
              <a:t>2. Root-Cause Defenses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Inadequate input validation and unescaped output rendering represent the primary drivers of web risk; implementing parameterized statements and output encoding eliminates top threat vectors.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Georgia"/>
              </a:defRPr>
            </a:pPr>
            <a:r>
              <a:t>3. Professional VAPT Value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  <a:latin typeface="Arial"/>
              </a:defRPr>
            </a:pPr>
            <a:r>
              <a:t>Rigorous security testing combined with reproducible evidence, clear CVSS risk rating, and actionable remediation guidelines empowers organizations to secure production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