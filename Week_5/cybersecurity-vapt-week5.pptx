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Week 5 practical learning report on VAPT Tools for DG Interns Hub, submitted by Krina Sorathiya. Focuses on practical vulnerability assessment and penetration testing across Nmap, Nikto, and Burp Suite against authorized target testphp.vulnweb.com.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Slide: Establishes the core distinction between Vulnerability Assessment (discovering weaknesses) and Penetration Testing (safely validating exploitability). Details the strict ethical authorization boundaries and the full 10-step lifecycle executed during the Week 5 practical.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Slide: Defines the functional division of labor among the 3 core tools: Nmap for Layer 4 network discovery, Nikto for Layer 7 web-server hygiene and configuration checks, and Burp Suite Community Edition for application-level traffic interception. All testing conducted strictly within authorized scope against testphp.vulnweb.com / 192.168.1.10.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Nmap Slide: Displays actual terminal output from nmap -sS and aggressive scan nmap -A against 192.168.1.10. Identifies 12 open ports including web services (Apache 2.4.52 on 80 and 8080), database (MySQL 8.0.34 on 3306), file transfer (vsftpd 3.0.3), and remote management (SSH 8.9p1 and RDP 3389). Port 23 telnet is filtered.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Nikto Slide: Shows actual Nikto v2.5.0 output against 192.168.1.10:80. The 15-second scan uncovered 14 vulnerabilities, chiefly outdated Apache 2.4.52, PHP 7.4.3 disclosure, missing X-Content-Type-Options header, exposed directory indexing on /admin/, /config/, /test/, /uploads/, exposed server-status, and active TRACE/TRACK methods.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Burp Proxy Slide: Details the architecture of Burp Suite Community Edition v2024.1.1 configured as an intercepting proxy. Highlights listener binding to 127.0.0.1:8080, browser routing configuration, and custom client intercept rules that exclude static media files while intercepting core application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Burp Traffic Slide: Examines two primary intercepted HTTP requests from the report: 1) POST /login.php exposing cleartext username and password transmission over HTTP port 80. 2) GET /search.php?test=1 exposing query parameter handling and session cookie PHPSESSID=3r8v7j219k0m6q4u5blc9d8e7f.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Slide: Directly replicates the 7 verified security findings from the Week 5 report table (F-01 to F-07). Classifies 3 Low risk findings (version leaks, missing header), 3 Medium risk findings (directory indexing, server-status, TRACE/TRACK), and 1 Informational finding from Burp Suite traffic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Slide: Translates the findings into 5 actionable configuration hardening steps: 1) Options -Indexes to close directory browsing, 2) ServerTokens Prod and expose_php=Off to conceal versions, 3) X-Content-Type-Options nosniff header, 4) Restricting /server-status and /phpinfo.php, and 5) TraceEnable Off to disable TRACE/TRACK.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Slide: Summarizes the 4 key learning outcomes: reconnaissance depth, web misconfiguration auditing, traffic interception with Burp Suite, and ethical security testing standards. Concludes the Week 5 VAPT practical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097280"/>
            <a:ext cx="3291840" cy="411480"/>
          </a:xfrm>
          <a:prstGeom prst="roundRect">
            <a:avLst/>
          </a:prstGeom>
          <a:solidFill>
            <a:srgbClr val="0C4A6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DG INTERNS HUB • CYBER SECURITY INTERNSHIP</a:t>
            </a:r>
          </a:p>
        </p:txBody>
      </p:sp>
      <p:sp>
        <p:nvSpPr>
          <p:cNvPr id="3" name="TextBox 2"/>
          <p:cNvSpPr txBox="1"/>
          <p:nvPr/>
        </p:nvSpPr>
        <p:spPr>
          <a:xfrm>
            <a:off x="731520" y="1691640"/>
            <a:ext cx="10698480" cy="1645920"/>
          </a:xfrm>
          <a:prstGeom prst="rect">
            <a:avLst/>
          </a:prstGeom>
          <a:noFill/>
        </p:spPr>
        <p:txBody>
          <a:bodyPr wrap="square">
            <a:spAutoFit/>
          </a:bodyPr>
          <a:lstStyle/>
          <a:p>
            <a:pPr>
              <a:defRPr sz="4000" b="1">
                <a:solidFill>
                  <a:srgbClr val="F8FAFC"/>
                </a:solidFill>
                <a:latin typeface="Arial"/>
              </a:defRPr>
            </a:pPr>
            <a:r>
              <a:t>Week 5: VAPT Tools Assessment</a:t>
            </a:r>
          </a:p>
          <a:p>
            <a:pPr>
              <a:spcBef>
                <a:spcPts val="800"/>
              </a:spcBef>
              <a:defRPr sz="2000">
                <a:solidFill>
                  <a:srgbClr val="38BDF8"/>
                </a:solidFill>
                <a:latin typeface="Arial"/>
              </a:defRPr>
            </a:pPr>
            <a:r>
              <a:t>Practical Vulnerability Assessment &amp; Penetration Testing via Nmap, Nikto &amp; Burp Suite</a:t>
            </a:r>
          </a:p>
        </p:txBody>
      </p:sp>
      <p:sp>
        <p:nvSpPr>
          <p:cNvPr id="4" name="Rounded Rectangle 3"/>
          <p:cNvSpPr/>
          <p:nvPr/>
        </p:nvSpPr>
        <p:spPr>
          <a:xfrm>
            <a:off x="731520" y="384048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77639"/>
            <a:ext cx="2148840" cy="1371600"/>
          </a:xfrm>
          <a:prstGeom prst="rect">
            <a:avLst/>
          </a:prstGeom>
          <a:noFill/>
        </p:spPr>
        <p:txBody>
          <a:bodyPr wrap="square">
            <a:spAutoFit/>
          </a:bodyPr>
          <a:lstStyle/>
          <a:p>
            <a:pPr>
              <a:defRPr sz="1100" b="1">
                <a:solidFill>
                  <a:srgbClr val="38BDF8"/>
                </a:solidFill>
              </a:defRPr>
            </a:pPr>
            <a:r>
              <a:t>INTERN NAME</a:t>
            </a:r>
          </a:p>
          <a:p>
            <a:pPr>
              <a:spcBef>
                <a:spcPts val="600"/>
              </a:spcBef>
              <a:defRPr sz="1700" b="1">
                <a:solidFill>
                  <a:srgbClr val="F8FAFC"/>
                </a:solidFill>
              </a:defRPr>
            </a:pPr>
            <a:r>
              <a:t>Krina Sorathiya</a:t>
            </a:r>
          </a:p>
          <a:p>
            <a:pPr>
              <a:spcBef>
                <a:spcPts val="400"/>
              </a:spcBef>
              <a:defRPr sz="1200">
                <a:solidFill>
                  <a:srgbClr val="94A3B8"/>
                </a:solidFill>
              </a:defRPr>
            </a:pPr>
            <a:r>
              <a:t>Cyber Security Intern</a:t>
            </a:r>
          </a:p>
        </p:txBody>
      </p:sp>
      <p:sp>
        <p:nvSpPr>
          <p:cNvPr id="6" name="Rounded Rectangle 5"/>
          <p:cNvSpPr/>
          <p:nvPr/>
        </p:nvSpPr>
        <p:spPr>
          <a:xfrm>
            <a:off x="3465576" y="384048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3977639"/>
            <a:ext cx="2148840" cy="1371600"/>
          </a:xfrm>
          <a:prstGeom prst="rect">
            <a:avLst/>
          </a:prstGeom>
          <a:noFill/>
        </p:spPr>
        <p:txBody>
          <a:bodyPr wrap="square">
            <a:spAutoFit/>
          </a:bodyPr>
          <a:lstStyle/>
          <a:p>
            <a:pPr>
              <a:defRPr sz="1100" b="1">
                <a:solidFill>
                  <a:srgbClr val="38BDF8"/>
                </a:solidFill>
              </a:defRPr>
            </a:pPr>
            <a:r>
              <a:t>ORGANIZATION</a:t>
            </a:r>
          </a:p>
          <a:p>
            <a:pPr>
              <a:spcBef>
                <a:spcPts val="600"/>
              </a:spcBef>
              <a:defRPr sz="1700" b="1">
                <a:solidFill>
                  <a:srgbClr val="F8FAFC"/>
                </a:solidFill>
              </a:defRPr>
            </a:pPr>
            <a:r>
              <a:t>DG Interns Hub</a:t>
            </a:r>
          </a:p>
          <a:p>
            <a:pPr>
              <a:spcBef>
                <a:spcPts val="400"/>
              </a:spcBef>
              <a:defRPr sz="1200">
                <a:solidFill>
                  <a:srgbClr val="94A3B8"/>
                </a:solidFill>
              </a:defRPr>
            </a:pPr>
            <a:r>
              <a:t>Practical Learning Track</a:t>
            </a:r>
          </a:p>
        </p:txBody>
      </p:sp>
      <p:sp>
        <p:nvSpPr>
          <p:cNvPr id="8" name="Rounded Rectangle 7"/>
          <p:cNvSpPr/>
          <p:nvPr/>
        </p:nvSpPr>
        <p:spPr>
          <a:xfrm>
            <a:off x="6199632" y="384048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3977639"/>
            <a:ext cx="2148840" cy="1371600"/>
          </a:xfrm>
          <a:prstGeom prst="rect">
            <a:avLst/>
          </a:prstGeom>
          <a:noFill/>
        </p:spPr>
        <p:txBody>
          <a:bodyPr wrap="square">
            <a:spAutoFit/>
          </a:bodyPr>
          <a:lstStyle/>
          <a:p>
            <a:pPr>
              <a:defRPr sz="1100" b="1">
                <a:solidFill>
                  <a:srgbClr val="38BDF8"/>
                </a:solidFill>
              </a:defRPr>
            </a:pPr>
            <a:r>
              <a:t>AUTHORIZED TARGET</a:t>
            </a:r>
          </a:p>
          <a:p>
            <a:pPr>
              <a:spcBef>
                <a:spcPts val="600"/>
              </a:spcBef>
              <a:defRPr sz="1700" b="1">
                <a:solidFill>
                  <a:srgbClr val="F8FAFC"/>
                </a:solidFill>
              </a:defRPr>
            </a:pPr>
            <a:r>
              <a:t>testphp.vulnweb.com</a:t>
            </a:r>
          </a:p>
          <a:p>
            <a:pPr>
              <a:spcBef>
                <a:spcPts val="400"/>
              </a:spcBef>
              <a:defRPr sz="1200">
                <a:solidFill>
                  <a:srgbClr val="94A3B8"/>
                </a:solidFill>
              </a:defRPr>
            </a:pPr>
            <a:r>
              <a:t>Lab Scope: 192.168.1.10</a:t>
            </a:r>
          </a:p>
        </p:txBody>
      </p:sp>
      <p:sp>
        <p:nvSpPr>
          <p:cNvPr id="10" name="Rounded Rectangle 9"/>
          <p:cNvSpPr/>
          <p:nvPr/>
        </p:nvSpPr>
        <p:spPr>
          <a:xfrm>
            <a:off x="8933688" y="384048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6568" y="3977639"/>
            <a:ext cx="2148840" cy="1371600"/>
          </a:xfrm>
          <a:prstGeom prst="rect">
            <a:avLst/>
          </a:prstGeom>
          <a:noFill/>
        </p:spPr>
        <p:txBody>
          <a:bodyPr wrap="square">
            <a:spAutoFit/>
          </a:bodyPr>
          <a:lstStyle/>
          <a:p>
            <a:pPr>
              <a:defRPr sz="1100" b="1">
                <a:solidFill>
                  <a:srgbClr val="38BDF8"/>
                </a:solidFill>
              </a:defRPr>
            </a:pPr>
            <a:r>
              <a:t>SUBMISSION DATE</a:t>
            </a:r>
          </a:p>
          <a:p>
            <a:pPr>
              <a:spcBef>
                <a:spcPts val="600"/>
              </a:spcBef>
              <a:defRPr sz="1700" b="1">
                <a:solidFill>
                  <a:srgbClr val="F8FAFC"/>
                </a:solidFill>
              </a:defRPr>
            </a:pPr>
            <a:r>
              <a:t>07 September 2026</a:t>
            </a:r>
          </a:p>
          <a:p>
            <a:pPr>
              <a:spcBef>
                <a:spcPts val="400"/>
              </a:spcBef>
              <a:defRPr sz="1200">
                <a:solidFill>
                  <a:srgbClr val="94A3B8"/>
                </a:solidFill>
              </a:defRPr>
            </a:pPr>
            <a:r>
              <a:t>Week 5 Deliverable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ASSESSMENT METHODOLOGY</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Structured 10-Step VAPT Workflow Enforces Ethical Scoping, Tool Correlation &amp; Verification</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65760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3291840" cy="1920240"/>
          </a:xfrm>
          <a:prstGeom prst="rect">
            <a:avLst/>
          </a:prstGeom>
          <a:noFill/>
        </p:spPr>
        <p:txBody>
          <a:bodyPr wrap="square">
            <a:spAutoFit/>
          </a:bodyPr>
          <a:lstStyle/>
          <a:p>
            <a:pPr>
              <a:defRPr sz="1400" b="1">
                <a:solidFill>
                  <a:srgbClr val="38BDF8"/>
                </a:solidFill>
              </a:defRPr>
            </a:pPr>
            <a:r>
              <a:t>Vulnerability Assessment vs Penetration Testing</a:t>
            </a:r>
          </a:p>
          <a:p>
            <a:pPr>
              <a:spcBef>
                <a:spcPts val="600"/>
              </a:spcBef>
              <a:defRPr sz="1150">
                <a:solidFill>
                  <a:srgbClr val="F8FAFC"/>
                </a:solidFill>
              </a:defRPr>
            </a:pPr>
            <a:r>
              <a:t>• Vulnerability Assessment: Systematic discovery and documentation of weaknesses, open ports, exposed services, and outdated software across target assets.</a:t>
            </a:r>
          </a:p>
          <a:p>
            <a:pPr>
              <a:spcBef>
                <a:spcPts val="400"/>
              </a:spcBef>
              <a:defRPr sz="1150">
                <a:solidFill>
                  <a:srgbClr val="F8FAFC"/>
                </a:solidFill>
              </a:defRPr>
            </a:pPr>
            <a:r>
              <a:t>• Penetration Testing: Goes beyond discovery by safely validating whether discovered weaknesses can be practically exploited without business disruption.</a:t>
            </a:r>
          </a:p>
        </p:txBody>
      </p:sp>
      <p:sp>
        <p:nvSpPr>
          <p:cNvPr id="7" name="Rounded Rectangle 6"/>
          <p:cNvSpPr/>
          <p:nvPr/>
        </p:nvSpPr>
        <p:spPr>
          <a:xfrm>
            <a:off x="731520" y="4023360"/>
            <a:ext cx="3657600" cy="228600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60520"/>
            <a:ext cx="3291840" cy="2011680"/>
          </a:xfrm>
          <a:prstGeom prst="rect">
            <a:avLst/>
          </a:prstGeom>
          <a:noFill/>
        </p:spPr>
        <p:txBody>
          <a:bodyPr wrap="square">
            <a:spAutoFit/>
          </a:bodyPr>
          <a:lstStyle/>
          <a:p>
            <a:pPr>
              <a:defRPr sz="1400" b="1">
                <a:solidFill>
                  <a:srgbClr val="FBBF24"/>
                </a:solidFill>
              </a:defRPr>
            </a:pPr>
            <a:r>
              <a:t>Ethical Authorization &amp; Safety Guardrails</a:t>
            </a:r>
          </a:p>
          <a:p>
            <a:pPr>
              <a:spcBef>
                <a:spcPts val="600"/>
              </a:spcBef>
              <a:defRPr sz="1150">
                <a:solidFill>
                  <a:srgbClr val="F8FAFC"/>
                </a:solidFill>
              </a:defRPr>
            </a:pPr>
            <a:r>
              <a:t>• Authorized Scope: Testing is strictly limited to the official training target http://testphp.vulnweb.com (resolved to lab host 192.168.1.10).</a:t>
            </a:r>
          </a:p>
          <a:p>
            <a:pPr>
              <a:spcBef>
                <a:spcPts val="400"/>
              </a:spcBef>
              <a:defRPr sz="1150">
                <a:solidFill>
                  <a:srgbClr val="F8FAFC"/>
                </a:solidFill>
              </a:defRPr>
            </a:pPr>
            <a:r>
              <a:t>• Strict Internship Rule: No unauthorized external systems scanned. Scans designed to evaluate controls without degrading target availability.</a:t>
            </a:r>
          </a:p>
        </p:txBody>
      </p:sp>
      <p:sp>
        <p:nvSpPr>
          <p:cNvPr id="9" name="Rounded Rectangle 8"/>
          <p:cNvSpPr/>
          <p:nvPr/>
        </p:nvSpPr>
        <p:spPr>
          <a:xfrm>
            <a:off x="4572000" y="1645920"/>
            <a:ext cx="688817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783080"/>
            <a:ext cx="6492240" cy="4389120"/>
          </a:xfrm>
          <a:prstGeom prst="rect">
            <a:avLst/>
          </a:prstGeom>
          <a:noFill/>
        </p:spPr>
        <p:txBody>
          <a:bodyPr wrap="square">
            <a:spAutoFit/>
          </a:bodyPr>
          <a:lstStyle/>
          <a:p>
            <a:pPr>
              <a:defRPr sz="1500" b="1">
                <a:solidFill>
                  <a:srgbClr val="38BDF8"/>
                </a:solidFill>
              </a:defRPr>
            </a:pPr>
            <a:r>
              <a:t>The 10-Step Complete VAPT Practical Workflow</a:t>
            </a:r>
          </a:p>
          <a:p>
            <a:pPr>
              <a:spcBef>
                <a:spcPts val="400"/>
              </a:spcBef>
              <a:defRPr sz="1100">
                <a:solidFill>
                  <a:srgbClr val="F8FAFC"/>
                </a:solidFill>
              </a:defRPr>
            </a:pPr>
            <a:r>
              <a:t>Step 1: Confirm authorization &amp; select approved target (testphp.vulnweb.com)</a:t>
            </a:r>
          </a:p>
          <a:p>
            <a:pPr>
              <a:spcBef>
                <a:spcPts val="400"/>
              </a:spcBef>
              <a:defRPr sz="1100">
                <a:solidFill>
                  <a:srgbClr val="F8FAFC"/>
                </a:solidFill>
              </a:defRPr>
            </a:pPr>
            <a:r>
              <a:t>Step 2: Perform Nmap network discovery to enumerate exposed ports &amp; services</a:t>
            </a:r>
          </a:p>
          <a:p>
            <a:pPr>
              <a:spcBef>
                <a:spcPts val="400"/>
              </a:spcBef>
              <a:defRPr sz="1100">
                <a:solidFill>
                  <a:srgbClr val="F8FAFC"/>
                </a:solidFill>
              </a:defRPr>
            </a:pPr>
            <a:r>
              <a:t>Step 3: Execute Nmap service and version detection (-sV, -A) for technology fingerprinting</a:t>
            </a:r>
          </a:p>
          <a:p>
            <a:pPr>
              <a:spcBef>
                <a:spcPts val="400"/>
              </a:spcBef>
              <a:defRPr sz="1100">
                <a:solidFill>
                  <a:srgbClr val="F8FAFC"/>
                </a:solidFill>
              </a:defRPr>
            </a:pPr>
            <a:r>
              <a:t>Step 4: Run Nikto web vulnerability scan against HTTP application endpoints</a:t>
            </a:r>
          </a:p>
          <a:p>
            <a:pPr>
              <a:spcBef>
                <a:spcPts val="400"/>
              </a:spcBef>
              <a:defRPr sz="1100">
                <a:solidFill>
                  <a:srgbClr val="F8FAFC"/>
                </a:solidFill>
              </a:defRPr>
            </a:pPr>
            <a:r>
              <a:t>Step 5: Review automated scanner findings to filter informational noise &amp; false positives</a:t>
            </a:r>
          </a:p>
          <a:p>
            <a:pPr>
              <a:spcBef>
                <a:spcPts val="400"/>
              </a:spcBef>
              <a:defRPr sz="1100">
                <a:solidFill>
                  <a:srgbClr val="F8FAFC"/>
                </a:solidFill>
              </a:defRPr>
            </a:pPr>
            <a:r>
              <a:t>Step 6: Configure Burp Suite as a local intercepting proxy listener (127.0.0.1:8080)</a:t>
            </a:r>
          </a:p>
          <a:p>
            <a:pPr>
              <a:spcBef>
                <a:spcPts val="400"/>
              </a:spcBef>
              <a:defRPr sz="1100">
                <a:solidFill>
                  <a:srgbClr val="F8FAFC"/>
                </a:solidFill>
              </a:defRPr>
            </a:pPr>
            <a:r>
              <a:t>Step 7: Intercept browser HTTP client requests; inspect headers, parameters &amp; cookies</a:t>
            </a:r>
          </a:p>
          <a:p>
            <a:pPr>
              <a:spcBef>
                <a:spcPts val="400"/>
              </a:spcBef>
              <a:defRPr sz="1100">
                <a:solidFill>
                  <a:srgbClr val="F8FAFC"/>
                </a:solidFill>
              </a:defRPr>
            </a:pPr>
            <a:r>
              <a:t>Step 8: Correlate cross-tool observations across network, web-server, and application tiers</a:t>
            </a:r>
          </a:p>
          <a:p>
            <a:pPr>
              <a:spcBef>
                <a:spcPts val="400"/>
              </a:spcBef>
              <a:defRPr sz="1100">
                <a:solidFill>
                  <a:srgbClr val="F8FAFC"/>
                </a:solidFill>
              </a:defRPr>
            </a:pPr>
            <a:r>
              <a:t>Step 9: Document evidence-backed security findings with risk ratings &amp; remediation steps</a:t>
            </a:r>
          </a:p>
          <a:p>
            <a:pPr>
              <a:spcBef>
                <a:spcPts val="400"/>
              </a:spcBef>
              <a:defRPr sz="1100">
                <a:solidFill>
                  <a:srgbClr val="F8FAFC"/>
                </a:solidFill>
              </a:defRPr>
            </a:pPr>
            <a:r>
              <a:t>Step 10: Deliver finalized report, presentation deck, GitHub repository &amp; learning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ARCHITECTURE &amp; TOOL ROLES</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Dedicated Security Lab Evaluates Target testphp.vulnweb.com Across Network &amp; Application Layers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29000" cy="29260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3063240" cy="2651760"/>
          </a:xfrm>
          <a:prstGeom prst="rect">
            <a:avLst/>
          </a:prstGeom>
          <a:noFill/>
        </p:spPr>
        <p:txBody>
          <a:bodyPr wrap="square">
            <a:spAutoFit/>
          </a:bodyPr>
          <a:lstStyle/>
          <a:p>
            <a:pPr>
              <a:defRPr sz="1400" b="1">
                <a:solidFill>
                  <a:srgbClr val="38BDF8"/>
                </a:solidFill>
              </a:defRPr>
            </a:pPr>
            <a:r>
              <a:t>NMAP (Network Mapper)</a:t>
            </a:r>
          </a:p>
          <a:p>
            <a:pPr>
              <a:spcBef>
                <a:spcPts val="400"/>
              </a:spcBef>
              <a:defRPr sz="1100" b="1">
                <a:solidFill>
                  <a:srgbClr val="F8FAFC"/>
                </a:solidFill>
              </a:defRPr>
            </a:pPr>
            <a:r>
              <a:t>Network &amp; Port Discovery</a:t>
            </a:r>
          </a:p>
          <a:p>
            <a:pPr>
              <a:spcBef>
                <a:spcPts val="400"/>
              </a:spcBef>
              <a:defRPr sz="1100">
                <a:solidFill>
                  <a:srgbClr val="94A3B8"/>
                </a:solidFill>
              </a:defRPr>
            </a:pPr>
            <a:r>
              <a:t>• Identifies open TCP/UDP listening ports</a:t>
            </a:r>
          </a:p>
          <a:p>
            <a:pPr>
              <a:spcBef>
                <a:spcPts val="400"/>
              </a:spcBef>
              <a:defRPr sz="1100">
                <a:solidFill>
                  <a:srgbClr val="94A3B8"/>
                </a:solidFill>
              </a:defRPr>
            </a:pPr>
            <a:r>
              <a:t>• Discovers running network services and daemons</a:t>
            </a:r>
          </a:p>
          <a:p>
            <a:pPr>
              <a:spcBef>
                <a:spcPts val="400"/>
              </a:spcBef>
              <a:defRPr sz="1100">
                <a:solidFill>
                  <a:srgbClr val="94A3B8"/>
                </a:solidFill>
              </a:defRPr>
            </a:pPr>
            <a:r>
              <a:t>• Fingerprints application versions and underlying OS</a:t>
            </a:r>
          </a:p>
          <a:p>
            <a:pPr>
              <a:spcBef>
                <a:spcPts val="400"/>
              </a:spcBef>
              <a:defRPr sz="1100">
                <a:solidFill>
                  <a:srgbClr val="94A3B8"/>
                </a:solidFill>
              </a:defRPr>
            </a:pPr>
            <a:r>
              <a:t>• Outputs provide foundational network attack surface</a:t>
            </a:r>
          </a:p>
        </p:txBody>
      </p:sp>
      <p:sp>
        <p:nvSpPr>
          <p:cNvPr id="7" name="Rounded Rectangle 6"/>
          <p:cNvSpPr/>
          <p:nvPr/>
        </p:nvSpPr>
        <p:spPr>
          <a:xfrm>
            <a:off x="4379976" y="1645920"/>
            <a:ext cx="3429000" cy="292608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783080"/>
            <a:ext cx="3063240" cy="2651760"/>
          </a:xfrm>
          <a:prstGeom prst="rect">
            <a:avLst/>
          </a:prstGeom>
          <a:noFill/>
        </p:spPr>
        <p:txBody>
          <a:bodyPr wrap="square">
            <a:spAutoFit/>
          </a:bodyPr>
          <a:lstStyle/>
          <a:p>
            <a:pPr>
              <a:defRPr sz="1400" b="1">
                <a:solidFill>
                  <a:srgbClr val="FBBF24"/>
                </a:solidFill>
              </a:defRPr>
            </a:pPr>
            <a:r>
              <a:t>NIKTO (v2.5.0)</a:t>
            </a:r>
          </a:p>
          <a:p>
            <a:pPr>
              <a:spcBef>
                <a:spcPts val="400"/>
              </a:spcBef>
              <a:defRPr sz="1100" b="1">
                <a:solidFill>
                  <a:srgbClr val="F8FAFC"/>
                </a:solidFill>
              </a:defRPr>
            </a:pPr>
            <a:r>
              <a:t>Web Server Security Scanner</a:t>
            </a:r>
          </a:p>
          <a:p>
            <a:pPr>
              <a:spcBef>
                <a:spcPts val="400"/>
              </a:spcBef>
              <a:defRPr sz="1100">
                <a:solidFill>
                  <a:srgbClr val="94A3B8"/>
                </a:solidFill>
              </a:defRPr>
            </a:pPr>
            <a:r>
              <a:t>• Scans for server misconfigurations &amp; risky files</a:t>
            </a:r>
          </a:p>
          <a:p>
            <a:pPr>
              <a:spcBef>
                <a:spcPts val="400"/>
              </a:spcBef>
              <a:defRPr sz="1100">
                <a:solidFill>
                  <a:srgbClr val="94A3B8"/>
                </a:solidFill>
              </a:defRPr>
            </a:pPr>
            <a:r>
              <a:t>• Detects outdated web server components (Apache/PHP)</a:t>
            </a:r>
          </a:p>
          <a:p>
            <a:pPr>
              <a:spcBef>
                <a:spcPts val="400"/>
              </a:spcBef>
              <a:defRPr sz="1100">
                <a:solidFill>
                  <a:srgbClr val="94A3B8"/>
                </a:solidFill>
              </a:defRPr>
            </a:pPr>
            <a:r>
              <a:t>• Flags missing browser security response headers</a:t>
            </a:r>
          </a:p>
          <a:p>
            <a:pPr>
              <a:spcBef>
                <a:spcPts val="400"/>
              </a:spcBef>
              <a:defRPr sz="1100">
                <a:solidFill>
                  <a:srgbClr val="94A3B8"/>
                </a:solidFill>
              </a:defRPr>
            </a:pPr>
            <a:r>
              <a:t>• Identifies exposed directory indexing &amp; admin pages</a:t>
            </a:r>
          </a:p>
        </p:txBody>
      </p:sp>
      <p:sp>
        <p:nvSpPr>
          <p:cNvPr id="9" name="Rounded Rectangle 8"/>
          <p:cNvSpPr/>
          <p:nvPr/>
        </p:nvSpPr>
        <p:spPr>
          <a:xfrm>
            <a:off x="8028432" y="1645920"/>
            <a:ext cx="3429000" cy="292608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783080"/>
            <a:ext cx="3063240" cy="2651760"/>
          </a:xfrm>
          <a:prstGeom prst="rect">
            <a:avLst/>
          </a:prstGeom>
          <a:noFill/>
        </p:spPr>
        <p:txBody>
          <a:bodyPr wrap="square">
            <a:spAutoFit/>
          </a:bodyPr>
          <a:lstStyle/>
          <a:p>
            <a:pPr>
              <a:defRPr sz="1400" b="1">
                <a:solidFill>
                  <a:srgbClr val="34D399"/>
                </a:solidFill>
              </a:defRPr>
            </a:pPr>
            <a:r>
              <a:t>BURP SUITE (v2024.1.1)</a:t>
            </a:r>
          </a:p>
          <a:p>
            <a:pPr>
              <a:spcBef>
                <a:spcPts val="400"/>
              </a:spcBef>
              <a:defRPr sz="1100" b="1">
                <a:solidFill>
                  <a:srgbClr val="F8FAFC"/>
                </a:solidFill>
              </a:defRPr>
            </a:pPr>
            <a:r>
              <a:t>HTTP Request Interception &amp; Analysis</a:t>
            </a:r>
          </a:p>
          <a:p>
            <a:pPr>
              <a:spcBef>
                <a:spcPts val="400"/>
              </a:spcBef>
              <a:defRPr sz="1100">
                <a:solidFill>
                  <a:srgbClr val="94A3B8"/>
                </a:solidFill>
              </a:defRPr>
            </a:pPr>
            <a:r>
              <a:t>• Operates as local HTTP proxy listener on 127.0.0.1:8080</a:t>
            </a:r>
          </a:p>
          <a:p>
            <a:pPr>
              <a:spcBef>
                <a:spcPts val="400"/>
              </a:spcBef>
              <a:defRPr sz="1100">
                <a:solidFill>
                  <a:srgbClr val="94A3B8"/>
                </a:solidFill>
              </a:defRPr>
            </a:pPr>
            <a:r>
              <a:t>• Intercepts in-flight browser requests before forwarding</a:t>
            </a:r>
          </a:p>
          <a:p>
            <a:pPr>
              <a:spcBef>
                <a:spcPts val="400"/>
              </a:spcBef>
              <a:defRPr sz="1100">
                <a:solidFill>
                  <a:srgbClr val="94A3B8"/>
                </a:solidFill>
              </a:defRPr>
            </a:pPr>
            <a:r>
              <a:t>• Examines HTTP request methods, headers, and payloads</a:t>
            </a:r>
          </a:p>
          <a:p>
            <a:pPr>
              <a:spcBef>
                <a:spcPts val="400"/>
              </a:spcBef>
              <a:defRPr sz="1100">
                <a:solidFill>
                  <a:srgbClr val="94A3B8"/>
                </a:solidFill>
              </a:defRPr>
            </a:pPr>
            <a:r>
              <a:t>• Inspects session cookies (PHPSESSID) and URL parameters</a:t>
            </a:r>
          </a:p>
        </p:txBody>
      </p:sp>
      <p:sp>
        <p:nvSpPr>
          <p:cNvPr id="11" name="Rounded Rectangle 10"/>
          <p:cNvSpPr/>
          <p:nvPr/>
        </p:nvSpPr>
        <p:spPr>
          <a:xfrm>
            <a:off x="731520" y="4754880"/>
            <a:ext cx="10728655" cy="1554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92040"/>
            <a:ext cx="10332720" cy="1280160"/>
          </a:xfrm>
          <a:prstGeom prst="rect">
            <a:avLst/>
          </a:prstGeom>
          <a:noFill/>
        </p:spPr>
        <p:txBody>
          <a:bodyPr wrap="square">
            <a:spAutoFit/>
          </a:bodyPr>
          <a:lstStyle/>
          <a:p>
            <a:pPr>
              <a:defRPr sz="1400" b="1">
                <a:solidFill>
                  <a:srgbClr val="38BDF8"/>
                </a:solidFill>
              </a:defRPr>
            </a:pPr>
            <a:r>
              <a:t>Target Architecture &amp; Authorized Lab Boundary Specifications</a:t>
            </a:r>
          </a:p>
          <a:p>
            <a:pPr>
              <a:spcBef>
                <a:spcPts val="400"/>
              </a:spcBef>
              <a:defRPr sz="1150">
                <a:solidFill>
                  <a:srgbClr val="F8FAFC"/>
                </a:solidFill>
              </a:defRPr>
            </a:pPr>
            <a:r>
              <a:t>• Primary Target: testphp.vulnweb.com — safe, intentionally vulnerable educational web application hosted for authorized security assessments.</a:t>
            </a:r>
            <a:br/>
            <a:r>
              <a:t>• Lab Host Mapping: Target system mapped to IP 192.168.1.10 within the local security testing environment for full port and vulnerability discovery.</a:t>
            </a:r>
            <a:br/>
            <a:r>
              <a:t>• Multi-Tier Security Analysis: Nmap covers Layer 4 transport &amp; services; Nikto inspects Layer 7 server configuration; Burp Suite inspects application-tier HTTP traffic.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TASK 1: NETWORK SCANNING</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Nmap Scans Expose 12 Open TCP Services Across Web, Database, Mail &amp; Administrative Ports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map_scans_evidence.png"/>
          <p:cNvPicPr>
            <a:picLocks noChangeAspect="1"/>
          </p:cNvPicPr>
          <p:nvPr/>
        </p:nvPicPr>
        <p:blipFill>
          <a:blip r:embed="rId2"/>
          <a:stretch>
            <a:fillRect/>
          </a:stretch>
        </p:blipFill>
        <p:spPr>
          <a:xfrm>
            <a:off x="731520" y="1645920"/>
            <a:ext cx="5669280" cy="4663440"/>
          </a:xfrm>
          <a:prstGeom prst="rect">
            <a:avLst/>
          </a:prstGeom>
        </p:spPr>
      </p:pic>
      <p:sp>
        <p:nvSpPr>
          <p:cNvPr id="6" name="Rounded Rectangle 5"/>
          <p:cNvSpPr/>
          <p:nvPr/>
        </p:nvSpPr>
        <p:spPr>
          <a:xfrm>
            <a:off x="6583680" y="1645920"/>
            <a:ext cx="487649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783080"/>
            <a:ext cx="4480560" cy="4389120"/>
          </a:xfrm>
          <a:prstGeom prst="rect">
            <a:avLst/>
          </a:prstGeom>
          <a:noFill/>
        </p:spPr>
        <p:txBody>
          <a:bodyPr wrap="square">
            <a:spAutoFit/>
          </a:bodyPr>
          <a:lstStyle/>
          <a:p>
            <a:pPr>
              <a:defRPr sz="1500" b="1">
                <a:solidFill>
                  <a:srgbClr val="38BDF8"/>
                </a:solidFill>
              </a:defRPr>
            </a:pPr>
            <a:r>
              <a:t>Nmap Scan Evidence &amp; Technical Analysis</a:t>
            </a:r>
          </a:p>
          <a:p>
            <a:pPr>
              <a:spcBef>
                <a:spcPts val="600"/>
              </a:spcBef>
              <a:defRPr sz="1200" b="1">
                <a:solidFill>
                  <a:srgbClr val="FBBF24"/>
                </a:solidFill>
              </a:defRPr>
            </a:pPr>
            <a:r>
              <a:t>Command Executed</a:t>
            </a:r>
          </a:p>
          <a:p>
            <a:pPr>
              <a:spcBef>
                <a:spcPts val="200"/>
              </a:spcBef>
              <a:defRPr sz="1100">
                <a:solidFill>
                  <a:srgbClr val="F8FAFC"/>
                </a:solidFill>
              </a:defRPr>
            </a:pPr>
            <a:r>
              <a:t>nmap -sS 192.168.1.10 &amp; sudo nmap -A -T4 192.168.1.10</a:t>
            </a:r>
          </a:p>
          <a:p>
            <a:pPr>
              <a:spcBef>
                <a:spcPts val="600"/>
              </a:spcBef>
              <a:defRPr sz="1200" b="1">
                <a:solidFill>
                  <a:srgbClr val="FBBF24"/>
                </a:solidFill>
              </a:defRPr>
            </a:pPr>
            <a:r>
              <a:t>Execution Metrics</a:t>
            </a:r>
          </a:p>
          <a:p>
            <a:pPr>
              <a:spcBef>
                <a:spcPts val="200"/>
              </a:spcBef>
              <a:defRPr sz="1100">
                <a:solidFill>
                  <a:srgbClr val="F8FAFC"/>
                </a:solidFill>
              </a:defRPr>
            </a:pPr>
            <a:r>
              <a:t>SYN stealth scan finished in 6.48s; aggressive scan completed in 21.37s with 0.0023s latency.</a:t>
            </a:r>
          </a:p>
          <a:p>
            <a:pPr>
              <a:spcBef>
                <a:spcPts val="600"/>
              </a:spcBef>
              <a:defRPr sz="1200" b="1">
                <a:solidFill>
                  <a:srgbClr val="FBBF24"/>
                </a:solidFill>
              </a:defRPr>
            </a:pPr>
            <a:r>
              <a:t>12 Open TCP Ports</a:t>
            </a:r>
          </a:p>
          <a:p>
            <a:pPr>
              <a:spcBef>
                <a:spcPts val="200"/>
              </a:spcBef>
              <a:defRPr sz="1100">
                <a:solidFill>
                  <a:srgbClr val="F8FAFC"/>
                </a:solidFill>
              </a:defRPr>
            </a:pPr>
            <a:r>
              <a:t>• Web: 80/tcp (Apache 2.4.52), 8080/tcp (HTTP proxy)</a:t>
            </a:r>
            <a:br/>
            <a:r>
              <a:t>• Database: 3306/tcp (MySQL 8.0.34-0ubuntu0.22.04.1)</a:t>
            </a:r>
            <a:br/>
            <a:r>
              <a:t>• Remote Access: 22/tcp (OpenSSH 8.9p1), 3389/tcp (RDP/MS-WBT), 21/tcp (vsftpd 3.0.3)</a:t>
            </a:r>
            <a:br/>
            <a:r>
              <a:t>• Mail &amp; DNS: 25/tcp (Postfix), 110/tcp (Dovecot pop3), 143/tcp (Dovecot imap), 53/tcp (BIND 9.16.1)</a:t>
            </a:r>
            <a:br/>
            <a:r>
              <a:t>• File Sharing: 445/tcp (microsoft-ds)</a:t>
            </a:r>
          </a:p>
          <a:p>
            <a:pPr>
              <a:spcBef>
                <a:spcPts val="600"/>
              </a:spcBef>
              <a:defRPr sz="1200" b="1">
                <a:solidFill>
                  <a:srgbClr val="FBBF24"/>
                </a:solidFill>
              </a:defRPr>
            </a:pPr>
            <a:r>
              <a:t>1 Filtered Port</a:t>
            </a:r>
          </a:p>
          <a:p>
            <a:pPr>
              <a:spcBef>
                <a:spcPts val="200"/>
              </a:spcBef>
              <a:defRPr sz="1100">
                <a:solidFill>
                  <a:srgbClr val="F8FAFC"/>
                </a:solidFill>
              </a:defRPr>
            </a:pPr>
            <a:r>
              <a:t>23/tcp (telnet) reported filtered, indicating firewall packet filtering.</a:t>
            </a:r>
          </a:p>
          <a:p>
            <a:pPr>
              <a:spcBef>
                <a:spcPts val="600"/>
              </a:spcBef>
              <a:defRPr sz="1200" b="1">
                <a:solidFill>
                  <a:srgbClr val="FBBF24"/>
                </a:solidFill>
              </a:defRPr>
            </a:pPr>
            <a:r>
              <a:t>OS Fingerprint</a:t>
            </a:r>
          </a:p>
          <a:p>
            <a:pPr>
              <a:spcBef>
                <a:spcPts val="200"/>
              </a:spcBef>
              <a:defRPr sz="1100">
                <a:solidFill>
                  <a:srgbClr val="F8FAFC"/>
                </a:solidFill>
              </a:defRPr>
            </a:pPr>
            <a:r>
              <a:t>Linux kernel 5.4 - 5.8 (98%), Ubuntu 20.04 (97%) / Ubuntu 22.04 (96%).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TASK 2: WEB SERVER ASSESSMENT</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Nikto Automated Scan Flags 14 Vulnerabilities Highlighting Information Leaks &amp; Exposed Endpoints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ikto_scan_evidence.png"/>
          <p:cNvPicPr>
            <a:picLocks noChangeAspect="1"/>
          </p:cNvPicPr>
          <p:nvPr/>
        </p:nvPicPr>
        <p:blipFill>
          <a:blip r:embed="rId2"/>
          <a:stretch>
            <a:fillRect/>
          </a:stretch>
        </p:blipFill>
        <p:spPr>
          <a:xfrm>
            <a:off x="731520" y="1645920"/>
            <a:ext cx="5669280" cy="4663440"/>
          </a:xfrm>
          <a:prstGeom prst="rect">
            <a:avLst/>
          </a:prstGeom>
        </p:spPr>
      </p:pic>
      <p:sp>
        <p:nvSpPr>
          <p:cNvPr id="6" name="Rounded Rectangle 5"/>
          <p:cNvSpPr/>
          <p:nvPr/>
        </p:nvSpPr>
        <p:spPr>
          <a:xfrm>
            <a:off x="6583680" y="1645920"/>
            <a:ext cx="487649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783080"/>
            <a:ext cx="4480560" cy="4389120"/>
          </a:xfrm>
          <a:prstGeom prst="rect">
            <a:avLst/>
          </a:prstGeom>
          <a:noFill/>
        </p:spPr>
        <p:txBody>
          <a:bodyPr wrap="square">
            <a:spAutoFit/>
          </a:bodyPr>
          <a:lstStyle/>
          <a:p>
            <a:pPr>
              <a:defRPr sz="1500" b="1">
                <a:solidFill>
                  <a:srgbClr val="38BDF8"/>
                </a:solidFill>
              </a:defRPr>
            </a:pPr>
            <a:r>
              <a:t>Nikto v2.5.0 Scan Analysis &amp; Key Findings</a:t>
            </a:r>
          </a:p>
          <a:p>
            <a:pPr>
              <a:spcBef>
                <a:spcPts val="500"/>
              </a:spcBef>
              <a:defRPr sz="1200" b="1">
                <a:solidFill>
                  <a:srgbClr val="FBBF24"/>
                </a:solidFill>
              </a:defRPr>
            </a:pPr>
            <a:r>
              <a:t>Scan Execution</a:t>
            </a:r>
          </a:p>
          <a:p>
            <a:pPr>
              <a:spcBef>
                <a:spcPts val="100"/>
              </a:spcBef>
              <a:defRPr sz="1100">
                <a:solidFill>
                  <a:srgbClr val="F8FAFC"/>
                </a:solidFill>
              </a:defRPr>
            </a:pPr>
            <a:r>
              <a:t>Command: nikto -h http://192.168.1.10 (Port 80)</a:t>
            </a:r>
            <a:br/>
            <a:r>
              <a:t>Execution Time: 15 seconds | 14 vulnerabilities identified</a:t>
            </a:r>
          </a:p>
          <a:p>
            <a:pPr>
              <a:spcBef>
                <a:spcPts val="500"/>
              </a:spcBef>
              <a:defRPr sz="1200" b="1">
                <a:solidFill>
                  <a:srgbClr val="F87171"/>
                </a:solidFill>
              </a:defRPr>
            </a:pPr>
            <a:r>
              <a:t>Outdated Web Server</a:t>
            </a:r>
          </a:p>
          <a:p>
            <a:pPr>
              <a:spcBef>
                <a:spcPts val="100"/>
              </a:spcBef>
              <a:defRPr sz="1100">
                <a:solidFill>
                  <a:srgbClr val="F8FAFC"/>
                </a:solidFill>
              </a:defRPr>
            </a:pPr>
            <a:r>
              <a:t>Apache/2.4.52 detected as outdated compared to upstream release (Apache/2.4.62), presenting potential known CVE risks.</a:t>
            </a:r>
          </a:p>
          <a:p>
            <a:pPr>
              <a:spcBef>
                <a:spcPts val="500"/>
              </a:spcBef>
              <a:defRPr sz="1200" b="1">
                <a:solidFill>
                  <a:srgbClr val="FBBF24"/>
                </a:solidFill>
              </a:defRPr>
            </a:pPr>
            <a:r>
              <a:t>Technology Disclosure</a:t>
            </a:r>
          </a:p>
          <a:p>
            <a:pPr>
              <a:spcBef>
                <a:spcPts val="100"/>
              </a:spcBef>
              <a:defRPr sz="1100">
                <a:solidFill>
                  <a:srgbClr val="F8FAFC"/>
                </a:solidFill>
              </a:defRPr>
            </a:pPr>
            <a:r>
              <a:t>HTTP header 'X-Powered-By: PHP/7.4.3' explicitly leaks back-end runtime version, aiding attacker reconnaissance.</a:t>
            </a:r>
          </a:p>
          <a:p>
            <a:pPr>
              <a:spcBef>
                <a:spcPts val="500"/>
              </a:spcBef>
              <a:defRPr sz="1200" b="1">
                <a:solidFill>
                  <a:srgbClr val="FBBF24"/>
                </a:solidFill>
              </a:defRPr>
            </a:pPr>
            <a:r>
              <a:t>Missing Security Headers</a:t>
            </a:r>
          </a:p>
          <a:p>
            <a:pPr>
              <a:spcBef>
                <a:spcPts val="100"/>
              </a:spcBef>
              <a:defRPr sz="1100">
                <a:solidFill>
                  <a:srgbClr val="F8FAFC"/>
                </a:solidFill>
              </a:defRPr>
            </a:pPr>
            <a:r>
              <a:t>Header 'X-Content-Type-Options' is not configured, exposing client browsers to MIME-confusion attacks.</a:t>
            </a:r>
          </a:p>
          <a:p>
            <a:pPr>
              <a:spcBef>
                <a:spcPts val="500"/>
              </a:spcBef>
              <a:defRPr sz="1200" b="1">
                <a:solidFill>
                  <a:srgbClr val="F87171"/>
                </a:solidFill>
              </a:defRPr>
            </a:pPr>
            <a:r>
              <a:t>Exposed Directories</a:t>
            </a:r>
          </a:p>
          <a:p>
            <a:pPr>
              <a:spcBef>
                <a:spcPts val="100"/>
              </a:spcBef>
              <a:defRPr sz="1100">
                <a:solidFill>
                  <a:srgbClr val="F8FAFC"/>
                </a:solidFill>
              </a:defRPr>
            </a:pPr>
            <a:r>
              <a:t>Directory indexing actively enabled on /admin/, /config/, /test/, and /uploads/, permitting public browsing of files.</a:t>
            </a:r>
          </a:p>
          <a:p>
            <a:pPr>
              <a:spcBef>
                <a:spcPts val="500"/>
              </a:spcBef>
              <a:defRPr sz="1200" b="1">
                <a:solidFill>
                  <a:srgbClr val="FBBF24"/>
                </a:solidFill>
              </a:defRPr>
            </a:pPr>
            <a:r>
              <a:t>Sensitive Files &amp; Methods</a:t>
            </a:r>
          </a:p>
          <a:p>
            <a:pPr>
              <a:spcBef>
                <a:spcPts val="100"/>
              </a:spcBef>
              <a:defRPr sz="1100">
                <a:solidFill>
                  <a:srgbClr val="F8FAFC"/>
                </a:solidFill>
              </a:defRPr>
            </a:pPr>
            <a:r>
              <a:t>Exposes /phpinfo.php, /server-status, and supports debugging HTTP methods TRACE and TRACK on /login.php.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TASK 3: PROXY ARCHITECTURE</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Burp Suite Local Proxy at 127.0.0.1:8080 Successfully Intercepts and Decouples HTTP Client Traffic</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urp_listener_evidence.png"/>
          <p:cNvPicPr>
            <a:picLocks noChangeAspect="1"/>
          </p:cNvPicPr>
          <p:nvPr/>
        </p:nvPicPr>
        <p:blipFill>
          <a:blip r:embed="rId2"/>
          <a:stretch>
            <a:fillRect/>
          </a:stretch>
        </p:blipFill>
        <p:spPr>
          <a:xfrm>
            <a:off x="731520" y="1645920"/>
            <a:ext cx="5669280" cy="4663440"/>
          </a:xfrm>
          <a:prstGeom prst="rect">
            <a:avLst/>
          </a:prstGeom>
        </p:spPr>
      </p:pic>
      <p:sp>
        <p:nvSpPr>
          <p:cNvPr id="6" name="Rounded Rectangle 5"/>
          <p:cNvSpPr/>
          <p:nvPr/>
        </p:nvSpPr>
        <p:spPr>
          <a:xfrm>
            <a:off x="6583680" y="1645920"/>
            <a:ext cx="487649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783080"/>
            <a:ext cx="4480560" cy="4389120"/>
          </a:xfrm>
          <a:prstGeom prst="rect">
            <a:avLst/>
          </a:prstGeom>
          <a:noFill/>
        </p:spPr>
        <p:txBody>
          <a:bodyPr wrap="square">
            <a:spAutoFit/>
          </a:bodyPr>
          <a:lstStyle/>
          <a:p>
            <a:pPr>
              <a:defRPr sz="1500" b="1">
                <a:solidFill>
                  <a:srgbClr val="38BDF8"/>
                </a:solidFill>
              </a:defRPr>
            </a:pPr>
            <a:r>
              <a:t>Proxy Listener Setup &amp; Interception Logic</a:t>
            </a:r>
          </a:p>
          <a:p>
            <a:pPr>
              <a:spcBef>
                <a:spcPts val="600"/>
              </a:spcBef>
              <a:defRPr sz="1200" b="1">
                <a:solidFill>
                  <a:srgbClr val="38BDF8"/>
                </a:solidFill>
              </a:defRPr>
            </a:pPr>
            <a:r>
              <a:t>Proxy Listener Configuration</a:t>
            </a:r>
          </a:p>
          <a:p>
            <a:pPr>
              <a:spcBef>
                <a:spcPts val="200"/>
              </a:spcBef>
              <a:defRPr sz="1100">
                <a:solidFill>
                  <a:srgbClr val="F8FAFC"/>
                </a:solidFill>
              </a:defRPr>
            </a:pPr>
            <a:r>
              <a:t>• Interface: Loopback 127.0.0.1 bound to Port 8080</a:t>
            </a:r>
            <a:br/>
            <a:r>
              <a:t>• State: Running [Checked] | Protocol: HTTP &amp; HTTP/2 support</a:t>
            </a:r>
            <a:br/>
            <a:r>
              <a:t>• Certificate: Per-host generated Burp CA for SSL/TLS inspection</a:t>
            </a:r>
          </a:p>
          <a:p>
            <a:pPr>
              <a:spcBef>
                <a:spcPts val="600"/>
              </a:spcBef>
              <a:defRPr sz="1200" b="1">
                <a:solidFill>
                  <a:srgbClr val="38BDF8"/>
                </a:solidFill>
              </a:defRPr>
            </a:pPr>
            <a:r>
              <a:t>Browser Traffic Routing</a:t>
            </a:r>
          </a:p>
          <a:p>
            <a:pPr>
              <a:spcBef>
                <a:spcPts val="200"/>
              </a:spcBef>
              <a:defRPr sz="1100">
                <a:solidFill>
                  <a:srgbClr val="F8FAFC"/>
                </a:solidFill>
              </a:defRPr>
            </a:pPr>
            <a:r>
              <a:t>• Client web browser configured to direct all HTTP/S egress through 127.0.0.1:8080.</a:t>
            </a:r>
            <a:br/>
            <a:r>
              <a:t>• Enables inspection and real-time modification of requests prior to target server receipt.</a:t>
            </a:r>
          </a:p>
          <a:p>
            <a:pPr>
              <a:spcBef>
                <a:spcPts val="600"/>
              </a:spcBef>
              <a:defRPr sz="1200" b="1">
                <a:solidFill>
                  <a:srgbClr val="38BDF8"/>
                </a:solidFill>
              </a:defRPr>
            </a:pPr>
            <a:r>
              <a:t>Client Interception Rules</a:t>
            </a:r>
          </a:p>
          <a:p>
            <a:pPr>
              <a:spcBef>
                <a:spcPts val="200"/>
              </a:spcBef>
              <a:defRPr sz="1100">
                <a:solidFill>
                  <a:srgbClr val="F8FAFC"/>
                </a:solidFill>
              </a:defRPr>
            </a:pPr>
            <a:r>
              <a:t>• In-Scope Filtering: Restricted to target host testphp.vulnweb.com.</a:t>
            </a:r>
            <a:br/>
            <a:r>
              <a:t>• Asset Exclusion: Automated regex bypass for static media (^gif$|^jpg$|^png$|^css$|^js$) to focus purely on active transaction endpoints.</a:t>
            </a:r>
          </a:p>
          <a:p>
            <a:pPr>
              <a:spcBef>
                <a:spcPts val="600"/>
              </a:spcBef>
              <a:defRPr sz="1200" b="1">
                <a:solidFill>
                  <a:srgbClr val="34D399"/>
                </a:solidFill>
              </a:defRPr>
            </a:pPr>
            <a:r>
              <a:t>Core Analytical Advantage</a:t>
            </a:r>
          </a:p>
          <a:p>
            <a:pPr>
              <a:spcBef>
                <a:spcPts val="200"/>
              </a:spcBef>
              <a:defRPr sz="1100">
                <a:solidFill>
                  <a:srgbClr val="F8FAFC"/>
                </a:solidFill>
              </a:defRPr>
            </a:pPr>
            <a:r>
              <a:t>Decouples application requests, exposing hidden fields, parameters, authentication payloads, and cookie states in cleartext.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TASK 3: TRAFFIC INSPECTION</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Targeted Interception Analyzes Authentication Submissions and Session Cookie Structures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urp_post_evidence.png"/>
          <p:cNvPicPr>
            <a:picLocks noChangeAspect="1"/>
          </p:cNvPicPr>
          <p:nvPr/>
        </p:nvPicPr>
        <p:blipFill>
          <a:blip r:embed="rId2"/>
          <a:stretch>
            <a:fillRect/>
          </a:stretch>
        </p:blipFill>
        <p:spPr>
          <a:xfrm>
            <a:off x="731520" y="1645920"/>
            <a:ext cx="5212080" cy="2240280"/>
          </a:xfrm>
          <a:prstGeom prst="rect">
            <a:avLst/>
          </a:prstGeom>
        </p:spPr>
      </p:pic>
      <p:pic>
        <p:nvPicPr>
          <p:cNvPr id="6" name="Picture 5" descr="burp_get_evidence.png"/>
          <p:cNvPicPr>
            <a:picLocks noChangeAspect="1"/>
          </p:cNvPicPr>
          <p:nvPr/>
        </p:nvPicPr>
        <p:blipFill>
          <a:blip r:embed="rId3"/>
          <a:stretch>
            <a:fillRect/>
          </a:stretch>
        </p:blipFill>
        <p:spPr>
          <a:xfrm>
            <a:off x="731520" y="4069080"/>
            <a:ext cx="5212080" cy="2240280"/>
          </a:xfrm>
          <a:prstGeom prst="rect">
            <a:avLst/>
          </a:prstGeom>
        </p:spPr>
      </p:pic>
      <p:sp>
        <p:nvSpPr>
          <p:cNvPr id="7" name="Rounded Rectangle 6"/>
          <p:cNvSpPr/>
          <p:nvPr/>
        </p:nvSpPr>
        <p:spPr>
          <a:xfrm>
            <a:off x="6172200" y="1645920"/>
            <a:ext cx="528797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4919472" cy="4389120"/>
          </a:xfrm>
          <a:prstGeom prst="rect">
            <a:avLst/>
          </a:prstGeom>
          <a:noFill/>
        </p:spPr>
        <p:txBody>
          <a:bodyPr wrap="square">
            <a:spAutoFit/>
          </a:bodyPr>
          <a:lstStyle/>
          <a:p>
            <a:pPr>
              <a:defRPr sz="1500" b="1">
                <a:solidFill>
                  <a:srgbClr val="38BDF8"/>
                </a:solidFill>
              </a:defRPr>
            </a:pPr>
            <a:r>
              <a:t>In-Flight HTTP Request Inspection &amp; Findings</a:t>
            </a:r>
          </a:p>
          <a:p>
            <a:pPr>
              <a:spcBef>
                <a:spcPts val="600"/>
              </a:spcBef>
              <a:defRPr sz="1200" b="1">
                <a:solidFill>
                  <a:srgbClr val="FBBF24"/>
                </a:solidFill>
              </a:defRPr>
            </a:pPr>
            <a:r>
              <a:t>Request 1: POST /login.php [Port 80]</a:t>
            </a:r>
          </a:p>
          <a:p>
            <a:pPr>
              <a:spcBef>
                <a:spcPts val="200"/>
              </a:spcBef>
              <a:defRPr sz="1100">
                <a:solidFill>
                  <a:srgbClr val="F8FAFC"/>
                </a:solidFill>
              </a:defRPr>
            </a:pPr>
            <a:r>
              <a:t>• Host: testphp.vulnweb.com (44.228.249.3:80)</a:t>
            </a:r>
            <a:br/>
            <a:r>
              <a:t>• Payload: uname=test&amp;pass=test&amp;submit=login</a:t>
            </a:r>
            <a:br/>
            <a:r>
              <a:t>• Content-Type: application/x-www-form-urlencoded</a:t>
            </a:r>
            <a:br/>
            <a:r>
              <a:t>• Security Observation: Authentication credentials submitted over unencrypted cleartext HTTP, vulnerable to local sniffing and MITM extraction.</a:t>
            </a:r>
          </a:p>
          <a:p>
            <a:pPr>
              <a:spcBef>
                <a:spcPts val="600"/>
              </a:spcBef>
              <a:defRPr sz="1200" b="1">
                <a:solidFill>
                  <a:srgbClr val="FBBF24"/>
                </a:solidFill>
              </a:defRPr>
            </a:pPr>
            <a:r>
              <a:t>Request 2: GET /search.php?test=1 [Port 80]</a:t>
            </a:r>
          </a:p>
          <a:p>
            <a:pPr>
              <a:spcBef>
                <a:spcPts val="200"/>
              </a:spcBef>
              <a:defRPr sz="1100">
                <a:solidFill>
                  <a:srgbClr val="F8FAFC"/>
                </a:solidFill>
              </a:defRPr>
            </a:pPr>
            <a:r>
              <a:t>• Parameter: test=1 query parameter passed in URL</a:t>
            </a:r>
            <a:br/>
            <a:r>
              <a:t>• Session Identifier: Cookie: PHPSESSID=3r8v7j219k0m6q4u5blc9d8e7f</a:t>
            </a:r>
            <a:br/>
            <a:r>
              <a:t>• Headers: 14 total headers including Host, User-Agent, and Referer</a:t>
            </a:r>
            <a:br/>
            <a:r>
              <a:t>• Security Observation: Session cookie lacks Secure and HttpOnly flags over plain HTTP; input parameter provides entry point for injection testing.</a:t>
            </a:r>
          </a:p>
          <a:p>
            <a:pPr>
              <a:spcBef>
                <a:spcPts val="600"/>
              </a:spcBef>
              <a:defRPr sz="1200" b="1">
                <a:solidFill>
                  <a:srgbClr val="34D399"/>
                </a:solidFill>
              </a:defRPr>
            </a:pPr>
            <a:r>
              <a:t>Analytical Takeaway</a:t>
            </a:r>
          </a:p>
          <a:p>
            <a:pPr>
              <a:spcBef>
                <a:spcPts val="200"/>
              </a:spcBef>
              <a:defRPr sz="1100">
                <a:solidFill>
                  <a:srgbClr val="F8FAFC"/>
                </a:solidFill>
              </a:defRPr>
            </a:pPr>
            <a:r>
              <a:t>Burp Suite provides exact visibility into client-server handshakes, revealing hidden application state and unencrypted sensitive data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ASSESSMENT FINDINGS</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Seven Documented Findings Range From Medium-Risk Directory Exposure to Informational Headers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914400"/>
                <a:gridCol w="2560320"/>
                <a:gridCol w="1280160"/>
                <a:gridCol w="1280160"/>
                <a:gridCol w="4693615"/>
              </a:tblGrid>
              <a:tr h="582930">
                <a:tc>
                  <a:txBody>
                    <a:bodyPr lIns="50800" rIns="50800" tIns="50800" bIns="50800"/>
                    <a:lstStyle/>
                    <a:p>
                      <a:pPr>
                        <a:defRPr sz="1100" b="1">
                          <a:solidFill>
                            <a:srgbClr val="38BDF8"/>
                          </a:solidFill>
                        </a:defRPr>
                      </a:pPr>
                      <a:r>
                        <a:t>ID</a:t>
                      </a:r>
                    </a:p>
                  </a:txBody>
                  <a:tcPr>
                    <a:solidFill>
                      <a:srgbClr val="1E293B"/>
                    </a:solidFill>
                  </a:tcPr>
                </a:tc>
                <a:tc>
                  <a:txBody>
                    <a:bodyPr lIns="50800" rIns="50800" tIns="50800" bIns="50800"/>
                    <a:lstStyle/>
                    <a:p>
                      <a:pPr>
                        <a:defRPr sz="1100" b="1">
                          <a:solidFill>
                            <a:srgbClr val="38BDF8"/>
                          </a:solidFill>
                        </a:defRPr>
                      </a:pPr>
                      <a:r>
                        <a:t>FINDING</a:t>
                      </a:r>
                    </a:p>
                  </a:txBody>
                  <a:tcPr>
                    <a:solidFill>
                      <a:srgbClr val="1E293B"/>
                    </a:solidFill>
                  </a:tcPr>
                </a:tc>
                <a:tc>
                  <a:txBody>
                    <a:bodyPr lIns="50800" rIns="50800" tIns="50800" bIns="50800"/>
                    <a:lstStyle/>
                    <a:p>
                      <a:pPr>
                        <a:defRPr sz="1100" b="1">
                          <a:solidFill>
                            <a:srgbClr val="38BDF8"/>
                          </a:solidFill>
                        </a:defRPr>
                      </a:pPr>
                      <a:r>
                        <a:t>SOURCE</a:t>
                      </a:r>
                    </a:p>
                  </a:txBody>
                  <a:tcPr>
                    <a:solidFill>
                      <a:srgbClr val="1E293B"/>
                    </a:solidFill>
                  </a:tcPr>
                </a:tc>
                <a:tc>
                  <a:txBody>
                    <a:bodyPr lIns="50800" rIns="50800" tIns="50800" bIns="50800"/>
                    <a:lstStyle/>
                    <a:p>
                      <a:pPr>
                        <a:defRPr sz="1100" b="1">
                          <a:solidFill>
                            <a:srgbClr val="38BDF8"/>
                          </a:solidFill>
                        </a:defRPr>
                      </a:pPr>
                      <a:r>
                        <a:t>RISK</a:t>
                      </a:r>
                    </a:p>
                  </a:txBody>
                  <a:tcPr>
                    <a:solidFill>
                      <a:srgbClr val="1E293B"/>
                    </a:solidFill>
                  </a:tcPr>
                </a:tc>
                <a:tc>
                  <a:txBody>
                    <a:bodyPr lIns="50800" rIns="50800" tIns="50800" bIns="50800"/>
                    <a:lstStyle/>
                    <a:p>
                      <a:pPr>
                        <a:defRPr sz="1100" b="1">
                          <a:solidFill>
                            <a:srgbClr val="38BDF8"/>
                          </a:solidFill>
                        </a:defRPr>
                      </a:pPr>
                      <a:r>
                        <a:t>EVIDENCE &amp; EXPLANATION</a:t>
                      </a:r>
                    </a:p>
                  </a:txBody>
                  <a:tcPr>
                    <a:solidFill>
                      <a:srgbClr val="1E293B"/>
                    </a:solidFill>
                  </a:tcPr>
                </a:tc>
              </a:tr>
              <a:tr h="582930">
                <a:tc>
                  <a:txBody>
                    <a:bodyPr lIns="38100" rIns="38100" tIns="38100" bIns="38100"/>
                    <a:lstStyle/>
                    <a:p>
                      <a:pPr>
                        <a:defRPr sz="1050" b="1">
                          <a:solidFill>
                            <a:srgbClr val="38BDF8"/>
                          </a:solidFill>
                        </a:defRPr>
                      </a:pPr>
                      <a:r>
                        <a:t>F-01</a:t>
                      </a:r>
                    </a:p>
                  </a:txBody>
                  <a:tcPr>
                    <a:solidFill>
                      <a:srgbClr val="0F172A"/>
                    </a:solidFill>
                  </a:tcPr>
                </a:tc>
                <a:tc>
                  <a:txBody>
                    <a:bodyPr lIns="38100" rIns="38100" tIns="38100" bIns="38100"/>
                    <a:lstStyle/>
                    <a:p>
                      <a:pPr>
                        <a:defRPr sz="1050" b="1">
                          <a:solidFill>
                            <a:srgbClr val="F8FAFC"/>
                          </a:solidFill>
                        </a:defRPr>
                      </a:pPr>
                      <a:r>
                        <a:t>Server Version Disclosure</a:t>
                      </a:r>
                    </a:p>
                  </a:txBody>
                  <a:tcPr>
                    <a:solidFill>
                      <a:srgbClr val="0F172A"/>
                    </a:solidFill>
                  </a:tcPr>
                </a:tc>
                <a:tc>
                  <a:txBody>
                    <a:bodyPr lIns="38100" rIns="38100" tIns="38100" bIns="38100"/>
                    <a:lstStyle/>
                    <a:p>
                      <a:pPr>
                        <a:defRPr sz="1050">
                          <a:solidFill>
                            <a:srgbClr val="94A3B8"/>
                          </a:solidFill>
                        </a:defRPr>
                      </a:pPr>
                      <a:r>
                        <a:t>Nikto</a:t>
                      </a:r>
                    </a:p>
                  </a:txBody>
                  <a:tcPr>
                    <a:solidFill>
                      <a:srgbClr val="0F172A"/>
                    </a:solidFill>
                  </a:tcPr>
                </a:tc>
                <a:tc>
                  <a:txBody>
                    <a:bodyPr lIns="38100" rIns="38100" tIns="38100" bIns="38100"/>
                    <a:lstStyle/>
                    <a:p>
                      <a:pPr>
                        <a:defRPr sz="1050" b="1">
                          <a:solidFill>
                            <a:srgbClr val="38BDF8"/>
                          </a:solidFill>
                        </a:defRPr>
                      </a:pPr>
                      <a:r>
                        <a:t>Low</a:t>
                      </a:r>
                    </a:p>
                  </a:txBody>
                  <a:tcPr>
                    <a:solidFill>
                      <a:srgbClr val="0F172A"/>
                    </a:solidFill>
                  </a:tcPr>
                </a:tc>
                <a:tc>
                  <a:txBody>
                    <a:bodyPr lIns="38100" rIns="38100" tIns="38100" bIns="38100"/>
                    <a:lstStyle/>
                    <a:p>
                      <a:pPr>
                        <a:defRPr sz="1050">
                          <a:solidFill>
                            <a:srgbClr val="94A3B8"/>
                          </a:solidFill>
                        </a:defRPr>
                      </a:pPr>
                      <a:r>
                        <a:t>Web server reveals Apache/2.4.52 in Server header, facilitating attacker version fingerprinting.</a:t>
                      </a:r>
                    </a:p>
                  </a:txBody>
                  <a:tcPr>
                    <a:solidFill>
                      <a:srgbClr val="0F172A"/>
                    </a:solidFill>
                  </a:tcPr>
                </a:tc>
              </a:tr>
              <a:tr h="582930">
                <a:tc>
                  <a:txBody>
                    <a:bodyPr lIns="38100" rIns="38100" tIns="38100" bIns="38100"/>
                    <a:lstStyle/>
                    <a:p>
                      <a:pPr>
                        <a:defRPr sz="1050" b="1">
                          <a:solidFill>
                            <a:srgbClr val="38BDF8"/>
                          </a:solidFill>
                        </a:defRPr>
                      </a:pPr>
                      <a:r>
                        <a:t>F-02</a:t>
                      </a:r>
                    </a:p>
                  </a:txBody>
                  <a:tcPr>
                    <a:solidFill>
                      <a:srgbClr val="162238"/>
                    </a:solidFill>
                  </a:tcPr>
                </a:tc>
                <a:tc>
                  <a:txBody>
                    <a:bodyPr lIns="38100" rIns="38100" tIns="38100" bIns="38100"/>
                    <a:lstStyle/>
                    <a:p>
                      <a:pPr>
                        <a:defRPr sz="1050" b="1">
                          <a:solidFill>
                            <a:srgbClr val="F8FAFC"/>
                          </a:solidFill>
                        </a:defRPr>
                      </a:pPr>
                      <a:r>
                        <a:t>PHP Version Disclosure</a:t>
                      </a:r>
                    </a:p>
                  </a:txBody>
                  <a:tcPr>
                    <a:solidFill>
                      <a:srgbClr val="162238"/>
                    </a:solidFill>
                  </a:tcPr>
                </a:tc>
                <a:tc>
                  <a:txBody>
                    <a:bodyPr lIns="38100" rIns="38100" tIns="38100" bIns="38100"/>
                    <a:lstStyle/>
                    <a:p>
                      <a:pPr>
                        <a:defRPr sz="1050">
                          <a:solidFill>
                            <a:srgbClr val="94A3B8"/>
                          </a:solidFill>
                        </a:defRPr>
                      </a:pPr>
                      <a:r>
                        <a:t>Nikto</a:t>
                      </a:r>
                    </a:p>
                  </a:txBody>
                  <a:tcPr>
                    <a:solidFill>
                      <a:srgbClr val="162238"/>
                    </a:solidFill>
                  </a:tcPr>
                </a:tc>
                <a:tc>
                  <a:txBody>
                    <a:bodyPr lIns="38100" rIns="38100" tIns="38100" bIns="38100"/>
                    <a:lstStyle/>
                    <a:p>
                      <a:pPr>
                        <a:defRPr sz="1050" b="1">
                          <a:solidFill>
                            <a:srgbClr val="38BDF8"/>
                          </a:solidFill>
                        </a:defRPr>
                      </a:pPr>
                      <a:r>
                        <a:t>Low</a:t>
                      </a:r>
                    </a:p>
                  </a:txBody>
                  <a:tcPr>
                    <a:solidFill>
                      <a:srgbClr val="162238"/>
                    </a:solidFill>
                  </a:tcPr>
                </a:tc>
                <a:tc>
                  <a:txBody>
                    <a:bodyPr lIns="38100" rIns="38100" tIns="38100" bIns="38100"/>
                    <a:lstStyle/>
                    <a:p>
                      <a:pPr>
                        <a:defRPr sz="1050">
                          <a:solidFill>
                            <a:srgbClr val="94A3B8"/>
                          </a:solidFill>
                        </a:defRPr>
                      </a:pPr>
                      <a:r>
                        <a:t>X-Powered-By header reveals PHP/7.4.3, exposing backend component details and known CVE exposure.</a:t>
                      </a:r>
                    </a:p>
                  </a:txBody>
                  <a:tcPr>
                    <a:solidFill>
                      <a:srgbClr val="162238"/>
                    </a:solidFill>
                  </a:tcPr>
                </a:tc>
              </a:tr>
              <a:tr h="582930">
                <a:tc>
                  <a:txBody>
                    <a:bodyPr lIns="38100" rIns="38100" tIns="38100" bIns="38100"/>
                    <a:lstStyle/>
                    <a:p>
                      <a:pPr>
                        <a:defRPr sz="1050" b="1">
                          <a:solidFill>
                            <a:srgbClr val="38BDF8"/>
                          </a:solidFill>
                        </a:defRPr>
                      </a:pPr>
                      <a:r>
                        <a:t>F-03</a:t>
                      </a:r>
                    </a:p>
                  </a:txBody>
                  <a:tcPr>
                    <a:solidFill>
                      <a:srgbClr val="0F172A"/>
                    </a:solidFill>
                  </a:tcPr>
                </a:tc>
                <a:tc>
                  <a:txBody>
                    <a:bodyPr lIns="38100" rIns="38100" tIns="38100" bIns="38100"/>
                    <a:lstStyle/>
                    <a:p>
                      <a:pPr>
                        <a:defRPr sz="1050" b="1">
                          <a:solidFill>
                            <a:srgbClr val="F8FAFC"/>
                          </a:solidFill>
                        </a:defRPr>
                      </a:pPr>
                      <a:r>
                        <a:t>Missing X-Content-Type-Options</a:t>
                      </a:r>
                    </a:p>
                  </a:txBody>
                  <a:tcPr>
                    <a:solidFill>
                      <a:srgbClr val="0F172A"/>
                    </a:solidFill>
                  </a:tcPr>
                </a:tc>
                <a:tc>
                  <a:txBody>
                    <a:bodyPr lIns="38100" rIns="38100" tIns="38100" bIns="38100"/>
                    <a:lstStyle/>
                    <a:p>
                      <a:pPr>
                        <a:defRPr sz="1050">
                          <a:solidFill>
                            <a:srgbClr val="94A3B8"/>
                          </a:solidFill>
                        </a:defRPr>
                      </a:pPr>
                      <a:r>
                        <a:t>Nikto</a:t>
                      </a:r>
                    </a:p>
                  </a:txBody>
                  <a:tcPr>
                    <a:solidFill>
                      <a:srgbClr val="0F172A"/>
                    </a:solidFill>
                  </a:tcPr>
                </a:tc>
                <a:tc>
                  <a:txBody>
                    <a:bodyPr lIns="38100" rIns="38100" tIns="38100" bIns="38100"/>
                    <a:lstStyle/>
                    <a:p>
                      <a:pPr>
                        <a:defRPr sz="1050" b="1">
                          <a:solidFill>
                            <a:srgbClr val="38BDF8"/>
                          </a:solidFill>
                        </a:defRPr>
                      </a:pPr>
                      <a:r>
                        <a:t>Low</a:t>
                      </a:r>
                    </a:p>
                  </a:txBody>
                  <a:tcPr>
                    <a:solidFill>
                      <a:srgbClr val="0F172A"/>
                    </a:solidFill>
                  </a:tcPr>
                </a:tc>
                <a:tc>
                  <a:txBody>
                    <a:bodyPr lIns="38100" rIns="38100" tIns="38100" bIns="38100"/>
                    <a:lstStyle/>
                    <a:p>
                      <a:pPr>
                        <a:defRPr sz="1050">
                          <a:solidFill>
                            <a:srgbClr val="94A3B8"/>
                          </a:solidFill>
                        </a:defRPr>
                      </a:pPr>
                      <a:r>
                        <a:t>Header is not configured, allowing client browsers to perform MIME-sniffing attacks.</a:t>
                      </a:r>
                    </a:p>
                  </a:txBody>
                  <a:tcPr>
                    <a:solidFill>
                      <a:srgbClr val="0F172A"/>
                    </a:solidFill>
                  </a:tcPr>
                </a:tc>
              </a:tr>
              <a:tr h="582930">
                <a:tc>
                  <a:txBody>
                    <a:bodyPr lIns="38100" rIns="38100" tIns="38100" bIns="38100"/>
                    <a:lstStyle/>
                    <a:p>
                      <a:pPr>
                        <a:defRPr sz="1050" b="1">
                          <a:solidFill>
                            <a:srgbClr val="38BDF8"/>
                          </a:solidFill>
                        </a:defRPr>
                      </a:pPr>
                      <a:r>
                        <a:t>F-04</a:t>
                      </a:r>
                    </a:p>
                  </a:txBody>
                  <a:tcPr>
                    <a:solidFill>
                      <a:srgbClr val="162238"/>
                    </a:solidFill>
                  </a:tcPr>
                </a:tc>
                <a:tc>
                  <a:txBody>
                    <a:bodyPr lIns="38100" rIns="38100" tIns="38100" bIns="38100"/>
                    <a:lstStyle/>
                    <a:p>
                      <a:pPr>
                        <a:defRPr sz="1050" b="1">
                          <a:solidFill>
                            <a:srgbClr val="F8FAFC"/>
                          </a:solidFill>
                        </a:defRPr>
                      </a:pPr>
                      <a:r>
                        <a:t>Directory Indexing Enabled</a:t>
                      </a:r>
                    </a:p>
                  </a:txBody>
                  <a:tcPr>
                    <a:solidFill>
                      <a:srgbClr val="162238"/>
                    </a:solidFill>
                  </a:tcPr>
                </a:tc>
                <a:tc>
                  <a:txBody>
                    <a:bodyPr lIns="38100" rIns="38100" tIns="38100" bIns="38100"/>
                    <a:lstStyle/>
                    <a:p>
                      <a:pPr>
                        <a:defRPr sz="1050">
                          <a:solidFill>
                            <a:srgbClr val="94A3B8"/>
                          </a:solidFill>
                        </a:defRPr>
                      </a:pPr>
                      <a:r>
                        <a:t>Nikto</a:t>
                      </a:r>
                    </a:p>
                  </a:txBody>
                  <a:tcPr>
                    <a:solidFill>
                      <a:srgbClr val="162238"/>
                    </a:solidFill>
                  </a:tcPr>
                </a:tc>
                <a:tc>
                  <a:txBody>
                    <a:bodyPr lIns="38100" rIns="38100" tIns="38100" bIns="38100"/>
                    <a:lstStyle/>
                    <a:p>
                      <a:pPr>
                        <a:defRPr sz="1050" b="1">
                          <a:solidFill>
                            <a:srgbClr val="FBBF24"/>
                          </a:solidFill>
                        </a:defRPr>
                      </a:pPr>
                      <a:r>
                        <a:t>Medium</a:t>
                      </a:r>
                    </a:p>
                  </a:txBody>
                  <a:tcPr>
                    <a:solidFill>
                      <a:srgbClr val="162238"/>
                    </a:solidFill>
                  </a:tcPr>
                </a:tc>
                <a:tc>
                  <a:txBody>
                    <a:bodyPr lIns="38100" rIns="38100" tIns="38100" bIns="38100"/>
                    <a:lstStyle/>
                    <a:p>
                      <a:pPr>
                        <a:defRPr sz="1050">
                          <a:solidFill>
                            <a:srgbClr val="94A3B8"/>
                          </a:solidFill>
                        </a:defRPr>
                      </a:pPr>
                      <a:r>
                        <a:t>Directories /admin/, /config/, /test/, /uploads/ allow public directory browsing and file discovery.</a:t>
                      </a:r>
                    </a:p>
                  </a:txBody>
                  <a:tcPr>
                    <a:solidFill>
                      <a:srgbClr val="162238"/>
                    </a:solidFill>
                  </a:tcPr>
                </a:tc>
              </a:tr>
              <a:tr h="582930">
                <a:tc>
                  <a:txBody>
                    <a:bodyPr lIns="38100" rIns="38100" tIns="38100" bIns="38100"/>
                    <a:lstStyle/>
                    <a:p>
                      <a:pPr>
                        <a:defRPr sz="1050" b="1">
                          <a:solidFill>
                            <a:srgbClr val="38BDF8"/>
                          </a:solidFill>
                        </a:defRPr>
                      </a:pPr>
                      <a:r>
                        <a:t>F-05</a:t>
                      </a:r>
                    </a:p>
                  </a:txBody>
                  <a:tcPr>
                    <a:solidFill>
                      <a:srgbClr val="0F172A"/>
                    </a:solidFill>
                  </a:tcPr>
                </a:tc>
                <a:tc>
                  <a:txBody>
                    <a:bodyPr lIns="38100" rIns="38100" tIns="38100" bIns="38100"/>
                    <a:lstStyle/>
                    <a:p>
                      <a:pPr>
                        <a:defRPr sz="1050" b="1">
                          <a:solidFill>
                            <a:srgbClr val="F8FAFC"/>
                          </a:solidFill>
                        </a:defRPr>
                      </a:pPr>
                      <a:r>
                        <a:t>Server-Status Page Detected</a:t>
                      </a:r>
                    </a:p>
                  </a:txBody>
                  <a:tcPr>
                    <a:solidFill>
                      <a:srgbClr val="0F172A"/>
                    </a:solidFill>
                  </a:tcPr>
                </a:tc>
                <a:tc>
                  <a:txBody>
                    <a:bodyPr lIns="38100" rIns="38100" tIns="38100" bIns="38100"/>
                    <a:lstStyle/>
                    <a:p>
                      <a:pPr>
                        <a:defRPr sz="1050">
                          <a:solidFill>
                            <a:srgbClr val="94A3B8"/>
                          </a:solidFill>
                        </a:defRPr>
                      </a:pPr>
                      <a:r>
                        <a:t>Nikto</a:t>
                      </a:r>
                    </a:p>
                  </a:txBody>
                  <a:tcPr>
                    <a:solidFill>
                      <a:srgbClr val="0F172A"/>
                    </a:solidFill>
                  </a:tcPr>
                </a:tc>
                <a:tc>
                  <a:txBody>
                    <a:bodyPr lIns="38100" rIns="38100" tIns="38100" bIns="38100"/>
                    <a:lstStyle/>
                    <a:p>
                      <a:pPr>
                        <a:defRPr sz="1050" b="1">
                          <a:solidFill>
                            <a:srgbClr val="FBBF24"/>
                          </a:solidFill>
                        </a:defRPr>
                      </a:pPr>
                      <a:r>
                        <a:t>Medium</a:t>
                      </a:r>
                    </a:p>
                  </a:txBody>
                  <a:tcPr>
                    <a:solidFill>
                      <a:srgbClr val="0F172A"/>
                    </a:solidFill>
                  </a:tcPr>
                </a:tc>
                <a:tc>
                  <a:txBody>
                    <a:bodyPr lIns="38100" rIns="38100" tIns="38100" bIns="38100"/>
                    <a:lstStyle/>
                    <a:p>
                      <a:pPr>
                        <a:defRPr sz="1050">
                          <a:solidFill>
                            <a:srgbClr val="94A3B8"/>
                          </a:solidFill>
                        </a:defRPr>
                      </a:pPr>
                      <a:r>
                        <a:t>Apache /server-status endpoint is exposed, leaking server performance and runtime connection data.</a:t>
                      </a:r>
                    </a:p>
                  </a:txBody>
                  <a:tcPr>
                    <a:solidFill>
                      <a:srgbClr val="0F172A"/>
                    </a:solidFill>
                  </a:tcPr>
                </a:tc>
              </a:tr>
              <a:tr h="582930">
                <a:tc>
                  <a:txBody>
                    <a:bodyPr lIns="38100" rIns="38100" tIns="38100" bIns="38100"/>
                    <a:lstStyle/>
                    <a:p>
                      <a:pPr>
                        <a:defRPr sz="1050" b="1">
                          <a:solidFill>
                            <a:srgbClr val="38BDF8"/>
                          </a:solidFill>
                        </a:defRPr>
                      </a:pPr>
                      <a:r>
                        <a:t>F-06</a:t>
                      </a:r>
                    </a:p>
                  </a:txBody>
                  <a:tcPr>
                    <a:solidFill>
                      <a:srgbClr val="162238"/>
                    </a:solidFill>
                  </a:tcPr>
                </a:tc>
                <a:tc>
                  <a:txBody>
                    <a:bodyPr lIns="38100" rIns="38100" tIns="38100" bIns="38100"/>
                    <a:lstStyle/>
                    <a:p>
                      <a:pPr>
                        <a:defRPr sz="1050" b="1">
                          <a:solidFill>
                            <a:srgbClr val="F8FAFC"/>
                          </a:solidFill>
                        </a:defRPr>
                      </a:pPr>
                      <a:r>
                        <a:t>Risky HTTP Methods TRACE/TRACK</a:t>
                      </a:r>
                    </a:p>
                  </a:txBody>
                  <a:tcPr>
                    <a:solidFill>
                      <a:srgbClr val="162238"/>
                    </a:solidFill>
                  </a:tcPr>
                </a:tc>
                <a:tc>
                  <a:txBody>
                    <a:bodyPr lIns="38100" rIns="38100" tIns="38100" bIns="38100"/>
                    <a:lstStyle/>
                    <a:p>
                      <a:pPr>
                        <a:defRPr sz="1050">
                          <a:solidFill>
                            <a:srgbClr val="94A3B8"/>
                          </a:solidFill>
                        </a:defRPr>
                      </a:pPr>
                      <a:r>
                        <a:t>Nikto</a:t>
                      </a:r>
                    </a:p>
                  </a:txBody>
                  <a:tcPr>
                    <a:solidFill>
                      <a:srgbClr val="162238"/>
                    </a:solidFill>
                  </a:tcPr>
                </a:tc>
                <a:tc>
                  <a:txBody>
                    <a:bodyPr lIns="38100" rIns="38100" tIns="38100" bIns="38100"/>
                    <a:lstStyle/>
                    <a:p>
                      <a:pPr>
                        <a:defRPr sz="1050" b="1">
                          <a:solidFill>
                            <a:srgbClr val="FBBF24"/>
                          </a:solidFill>
                        </a:defRPr>
                      </a:pPr>
                      <a:r>
                        <a:t>Medium</a:t>
                      </a:r>
                    </a:p>
                  </a:txBody>
                  <a:tcPr>
                    <a:solidFill>
                      <a:srgbClr val="162238"/>
                    </a:solidFill>
                  </a:tcPr>
                </a:tc>
                <a:tc>
                  <a:txBody>
                    <a:bodyPr lIns="38100" rIns="38100" tIns="38100" bIns="38100"/>
                    <a:lstStyle/>
                    <a:p>
                      <a:pPr>
                        <a:defRPr sz="1050">
                          <a:solidFill>
                            <a:srgbClr val="94A3B8"/>
                          </a:solidFill>
                        </a:defRPr>
                      </a:pPr>
                      <a:r>
                        <a:t>Uncommon debugging methods active on /login.php, presenting Cross-Site Tracing (XST) risks.</a:t>
                      </a:r>
                    </a:p>
                  </a:txBody>
                  <a:tcPr>
                    <a:solidFill>
                      <a:srgbClr val="162238"/>
                    </a:solidFill>
                  </a:tcPr>
                </a:tc>
              </a:tr>
              <a:tr h="582930">
                <a:tc>
                  <a:txBody>
                    <a:bodyPr lIns="38100" rIns="38100" tIns="38100" bIns="38100"/>
                    <a:lstStyle/>
                    <a:p>
                      <a:pPr>
                        <a:defRPr sz="1050" b="1">
                          <a:solidFill>
                            <a:srgbClr val="38BDF8"/>
                          </a:solidFill>
                        </a:defRPr>
                      </a:pPr>
                      <a:r>
                        <a:t>F-07</a:t>
                      </a:r>
                    </a:p>
                  </a:txBody>
                  <a:tcPr>
                    <a:solidFill>
                      <a:srgbClr val="0F172A"/>
                    </a:solidFill>
                  </a:tcPr>
                </a:tc>
                <a:tc>
                  <a:txBody>
                    <a:bodyPr lIns="38100" rIns="38100" tIns="38100" bIns="38100"/>
                    <a:lstStyle/>
                    <a:p>
                      <a:pPr>
                        <a:defRPr sz="1050" b="1">
                          <a:solidFill>
                            <a:srgbClr val="F8FAFC"/>
                          </a:solidFill>
                        </a:defRPr>
                      </a:pPr>
                      <a:r>
                        <a:t>HTTP Traffic &amp; Cookie Observed</a:t>
                      </a:r>
                    </a:p>
                  </a:txBody>
                  <a:tcPr>
                    <a:solidFill>
                      <a:srgbClr val="0F172A"/>
                    </a:solidFill>
                  </a:tcPr>
                </a:tc>
                <a:tc>
                  <a:txBody>
                    <a:bodyPr lIns="38100" rIns="38100" tIns="38100" bIns="38100"/>
                    <a:lstStyle/>
                    <a:p>
                      <a:pPr>
                        <a:defRPr sz="1050">
                          <a:solidFill>
                            <a:srgbClr val="94A3B8"/>
                          </a:solidFill>
                        </a:defRPr>
                      </a:pPr>
                      <a:r>
                        <a:t>Burp Suite</a:t>
                      </a:r>
                    </a:p>
                  </a:txBody>
                  <a:tcPr>
                    <a:solidFill>
                      <a:srgbClr val="0F172A"/>
                    </a:solidFill>
                  </a:tcPr>
                </a:tc>
                <a:tc>
                  <a:txBody>
                    <a:bodyPr lIns="38100" rIns="38100" tIns="38100" bIns="38100"/>
                    <a:lstStyle/>
                    <a:p>
                      <a:pPr>
                        <a:defRPr sz="1050" b="1">
                          <a:solidFill>
                            <a:srgbClr val="34D399"/>
                          </a:solidFill>
                        </a:defRPr>
                      </a:pPr>
                      <a:r>
                        <a:t>Informational</a:t>
                      </a:r>
                    </a:p>
                  </a:txBody>
                  <a:tcPr>
                    <a:solidFill>
                      <a:srgbClr val="0F172A"/>
                    </a:solidFill>
                  </a:tcPr>
                </a:tc>
                <a:tc>
                  <a:txBody>
                    <a:bodyPr lIns="38100" rIns="38100" tIns="38100" bIns="38100"/>
                    <a:lstStyle/>
                    <a:p>
                      <a:pPr>
                        <a:defRPr sz="1050">
                          <a:solidFill>
                            <a:srgbClr val="94A3B8"/>
                          </a:solidFill>
                        </a:defRPr>
                      </a:pPr>
                      <a:r>
                        <a:t>Demonstrates interception of unencrypted credentials on /login.php and PHPSESSID session cookies.</a:t>
                      </a:r>
                    </a:p>
                  </a:txBody>
                  <a:tcPr>
                    <a:solidFill>
                      <a:srgbClr val="0F172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REMEDIATION &amp; HARDENING</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Five Targeted Remediation Steps Harden Web Server Headers, Directory Access &amp; Methods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1031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92040" cy="1828800"/>
          </a:xfrm>
          <a:prstGeom prst="rect">
            <a:avLst/>
          </a:prstGeom>
          <a:noFill/>
        </p:spPr>
        <p:txBody>
          <a:bodyPr wrap="square">
            <a:spAutoFit/>
          </a:bodyPr>
          <a:lstStyle/>
          <a:p>
            <a:pPr>
              <a:defRPr sz="1300" b="1">
                <a:solidFill>
                  <a:srgbClr val="FBBF24"/>
                </a:solidFill>
              </a:defRPr>
            </a:pPr>
            <a:r>
              <a:t>RECOMMENDATION 1 • Disable Directory Indexing</a:t>
            </a:r>
          </a:p>
          <a:p>
            <a:pPr>
              <a:spcBef>
                <a:spcPts val="300"/>
              </a:spcBef>
              <a:defRPr sz="1050">
                <a:solidFill>
                  <a:srgbClr val="94A3B8"/>
                </a:solidFill>
              </a:defRPr>
            </a:pPr>
            <a:r>
              <a:t>Addresses: Medium Risk Vulnerability</a:t>
            </a:r>
          </a:p>
          <a:p>
            <a:pPr>
              <a:spcBef>
                <a:spcPts val="500"/>
              </a:spcBef>
              <a:defRPr sz="1100">
                <a:solidFill>
                  <a:srgbClr val="F8FAFC"/>
                </a:solidFill>
              </a:defRPr>
            </a:pPr>
            <a:r>
              <a:t>Configure 'Options -Indexes' in Apache httpd.conf or target .htaccess files to eliminate directory browsing across /admin/, /config/, /test/, and /uploads/.</a:t>
            </a:r>
          </a:p>
        </p:txBody>
      </p:sp>
      <p:sp>
        <p:nvSpPr>
          <p:cNvPr id="7" name="Rounded Rectangle 6"/>
          <p:cNvSpPr/>
          <p:nvPr/>
        </p:nvSpPr>
        <p:spPr>
          <a:xfrm>
            <a:off x="6202375" y="1645920"/>
            <a:ext cx="5257800" cy="2103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5255" y="1783080"/>
            <a:ext cx="4892040" cy="1828800"/>
          </a:xfrm>
          <a:prstGeom prst="rect">
            <a:avLst/>
          </a:prstGeom>
          <a:noFill/>
        </p:spPr>
        <p:txBody>
          <a:bodyPr wrap="square">
            <a:spAutoFit/>
          </a:bodyPr>
          <a:lstStyle/>
          <a:p>
            <a:pPr>
              <a:defRPr sz="1300" b="1">
                <a:solidFill>
                  <a:srgbClr val="38BDF8"/>
                </a:solidFill>
              </a:defRPr>
            </a:pPr>
            <a:r>
              <a:t>RECOMMENDATION 2 • Suppress Component &amp; Version Leaks</a:t>
            </a:r>
          </a:p>
          <a:p>
            <a:pPr>
              <a:spcBef>
                <a:spcPts val="300"/>
              </a:spcBef>
              <a:defRPr sz="1050">
                <a:solidFill>
                  <a:srgbClr val="94A3B8"/>
                </a:solidFill>
              </a:defRPr>
            </a:pPr>
            <a:r>
              <a:t>Addresses: Low Risk Vulnerability</a:t>
            </a:r>
          </a:p>
          <a:p>
            <a:pPr>
              <a:spcBef>
                <a:spcPts val="500"/>
              </a:spcBef>
              <a:defRPr sz="1100">
                <a:solidFill>
                  <a:srgbClr val="F8FAFC"/>
                </a:solidFill>
              </a:defRPr>
            </a:pPr>
            <a:r>
              <a:t>Set 'ServerTokens Prod' and 'ServerSignature Off' in Apache; configure 'expose_php = Off' in php.ini to suppress Apache 2.4.52 and PHP 7.4.3 disclosure.</a:t>
            </a:r>
          </a:p>
        </p:txBody>
      </p:sp>
      <p:sp>
        <p:nvSpPr>
          <p:cNvPr id="9" name="Rounded Rectangle 8"/>
          <p:cNvSpPr/>
          <p:nvPr/>
        </p:nvSpPr>
        <p:spPr>
          <a:xfrm>
            <a:off x="731520" y="3977639"/>
            <a:ext cx="5257800" cy="2103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799"/>
            <a:ext cx="4892040" cy="1828800"/>
          </a:xfrm>
          <a:prstGeom prst="rect">
            <a:avLst/>
          </a:prstGeom>
          <a:noFill/>
        </p:spPr>
        <p:txBody>
          <a:bodyPr wrap="square">
            <a:spAutoFit/>
          </a:bodyPr>
          <a:lstStyle/>
          <a:p>
            <a:pPr>
              <a:defRPr sz="1300" b="1">
                <a:solidFill>
                  <a:srgbClr val="38BDF8"/>
                </a:solidFill>
              </a:defRPr>
            </a:pPr>
            <a:r>
              <a:t>RECOMMENDATION 3 • Deploy Browser Security Headers</a:t>
            </a:r>
          </a:p>
          <a:p>
            <a:pPr>
              <a:spcBef>
                <a:spcPts val="300"/>
              </a:spcBef>
              <a:defRPr sz="1050">
                <a:solidFill>
                  <a:srgbClr val="94A3B8"/>
                </a:solidFill>
              </a:defRPr>
            </a:pPr>
            <a:r>
              <a:t>Addresses: Low Risk Vulnerability</a:t>
            </a:r>
          </a:p>
          <a:p>
            <a:pPr>
              <a:spcBef>
                <a:spcPts val="500"/>
              </a:spcBef>
              <a:defRPr sz="1100">
                <a:solidFill>
                  <a:srgbClr val="F8FAFC"/>
                </a:solidFill>
              </a:defRPr>
            </a:pPr>
            <a:r>
              <a:t>Add 'Header set X-Content-Type-Options "nosniff"', 'X-Frame-Options "SAMEORIGIN"', and 'Content-Security-Policy' in web server response configuration.</a:t>
            </a:r>
          </a:p>
        </p:txBody>
      </p:sp>
      <p:sp>
        <p:nvSpPr>
          <p:cNvPr id="11" name="Rounded Rectangle 10"/>
          <p:cNvSpPr/>
          <p:nvPr/>
        </p:nvSpPr>
        <p:spPr>
          <a:xfrm>
            <a:off x="6202375" y="3977639"/>
            <a:ext cx="5257800" cy="21031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5255" y="4114799"/>
            <a:ext cx="4892040" cy="1828800"/>
          </a:xfrm>
          <a:prstGeom prst="rect">
            <a:avLst/>
          </a:prstGeom>
          <a:noFill/>
        </p:spPr>
        <p:txBody>
          <a:bodyPr wrap="square">
            <a:spAutoFit/>
          </a:bodyPr>
          <a:lstStyle/>
          <a:p>
            <a:pPr>
              <a:defRPr sz="1300" b="1">
                <a:solidFill>
                  <a:srgbClr val="FBBF24"/>
                </a:solidFill>
              </a:defRPr>
            </a:pPr>
            <a:r>
              <a:t>RECOMMENDATION 4 • Restrict Sensitive Endpoints</a:t>
            </a:r>
          </a:p>
          <a:p>
            <a:pPr>
              <a:spcBef>
                <a:spcPts val="300"/>
              </a:spcBef>
              <a:defRPr sz="1050">
                <a:solidFill>
                  <a:srgbClr val="94A3B8"/>
                </a:solidFill>
              </a:defRPr>
            </a:pPr>
            <a:r>
              <a:t>Addresses: Medium Risk Vulnerability</a:t>
            </a:r>
          </a:p>
          <a:p>
            <a:pPr>
              <a:spcBef>
                <a:spcPts val="500"/>
              </a:spcBef>
              <a:defRPr sz="1100">
                <a:solidFill>
                  <a:srgbClr val="F8FAFC"/>
                </a:solidFill>
              </a:defRPr>
            </a:pPr>
            <a:r>
              <a:t>Restrict access to /server-status and /phpinfo.php by requiring administrative authentication or binding access strictly to authorized internal management IPs.</a:t>
            </a:r>
          </a:p>
        </p:txBody>
      </p:sp>
      <p:sp>
        <p:nvSpPr>
          <p:cNvPr id="13" name="Rounded Rectangle 12"/>
          <p:cNvSpPr/>
          <p:nvPr/>
        </p:nvSpPr>
        <p:spPr>
          <a:xfrm>
            <a:off x="731520" y="6217920"/>
            <a:ext cx="10728655" cy="5029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236208"/>
            <a:ext cx="10332720" cy="457200"/>
          </a:xfrm>
          <a:prstGeom prst="rect">
            <a:avLst/>
          </a:prstGeom>
          <a:noFill/>
        </p:spPr>
        <p:txBody>
          <a:bodyPr wrap="square">
            <a:spAutoFit/>
          </a:bodyPr>
          <a:lstStyle/>
          <a:p>
            <a:pPr>
              <a:defRPr sz="1050" b="1">
                <a:solidFill>
                  <a:srgbClr val="F8FAFC"/>
                </a:solidFill>
              </a:defRPr>
            </a:pPr>
            <a:r>
              <a:t>RECOMMENDATION 5: Disable Insecure HTTP Methods — Configure 'TraceEnable Off' in Apache server configuration to disable TRACE and TRACK methods, eliminating Cross-Site Tracing (XST) attack vectors.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latin typeface="Arial"/>
              </a:defRPr>
            </a:pPr>
            <a:r>
              <a:t>LEARNING OUTCOMES &amp; CONCLUSION</a:t>
            </a:r>
          </a:p>
        </p:txBody>
      </p:sp>
      <p:sp>
        <p:nvSpPr>
          <p:cNvPr id="3" name="TextBox 2"/>
          <p:cNvSpPr txBox="1"/>
          <p:nvPr/>
        </p:nvSpPr>
        <p:spPr>
          <a:xfrm>
            <a:off x="731520" y="658368"/>
            <a:ext cx="10698480" cy="777240"/>
          </a:xfrm>
          <a:prstGeom prst="rect">
            <a:avLst/>
          </a:prstGeom>
          <a:noFill/>
        </p:spPr>
        <p:txBody>
          <a:bodyPr wrap="square" lIns="0" tIns="0" rIns="0" bIns="0">
            <a:spAutoFit/>
          </a:bodyPr>
          <a:lstStyle/>
          <a:p>
            <a:pPr>
              <a:defRPr sz="2200" b="1">
                <a:solidFill>
                  <a:srgbClr val="F8FAFC"/>
                </a:solidFill>
                <a:latin typeface="Arial"/>
              </a:defRPr>
            </a:pPr>
            <a:r>
              <a:t>Week 5 Practical Solidifies Core VAPT Competencies Across Discovery, Scanning &amp; Traffic Analysis</a:t>
            </a:r>
          </a:p>
        </p:txBody>
      </p:sp>
      <p:sp>
        <p:nvSpPr>
          <p:cNvPr id="4" name="Rectangle 3"/>
          <p:cNvSpPr/>
          <p:nvPr/>
        </p:nvSpPr>
        <p:spPr>
          <a:xfrm>
            <a:off x="731520" y="1444752"/>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116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92040" cy="1737360"/>
          </a:xfrm>
          <a:prstGeom prst="rect">
            <a:avLst/>
          </a:prstGeom>
          <a:noFill/>
        </p:spPr>
        <p:txBody>
          <a:bodyPr wrap="square">
            <a:spAutoFit/>
          </a:bodyPr>
          <a:lstStyle/>
          <a:p>
            <a:pPr>
              <a:defRPr sz="1400" b="1">
                <a:solidFill>
                  <a:srgbClr val="38BDF8"/>
                </a:solidFill>
              </a:defRPr>
            </a:pPr>
            <a:r>
              <a:t>Network Reconnaissance Mastery</a:t>
            </a:r>
          </a:p>
          <a:p>
            <a:pPr>
              <a:spcBef>
                <a:spcPts val="600"/>
              </a:spcBef>
              <a:defRPr sz="1150">
                <a:solidFill>
                  <a:srgbClr val="F8FAFC"/>
                </a:solidFill>
              </a:defRPr>
            </a:pPr>
            <a:r>
              <a:t>Developed hands-on mastery of Nmap scanning techniques, distinguishing between surface-level port discovery (-sS) and in-depth application/service version enumeration (-sV, -A).</a:t>
            </a:r>
          </a:p>
        </p:txBody>
      </p:sp>
      <p:sp>
        <p:nvSpPr>
          <p:cNvPr id="7" name="Rounded Rectangle 6"/>
          <p:cNvSpPr/>
          <p:nvPr/>
        </p:nvSpPr>
        <p:spPr>
          <a:xfrm>
            <a:off x="6202375" y="1645920"/>
            <a:ext cx="5257800" cy="201168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5255" y="1783080"/>
            <a:ext cx="4892040" cy="1737360"/>
          </a:xfrm>
          <a:prstGeom prst="rect">
            <a:avLst/>
          </a:prstGeom>
          <a:noFill/>
        </p:spPr>
        <p:txBody>
          <a:bodyPr wrap="square">
            <a:spAutoFit/>
          </a:bodyPr>
          <a:lstStyle/>
          <a:p>
            <a:pPr>
              <a:defRPr sz="1400" b="1">
                <a:solidFill>
                  <a:srgbClr val="FBBF24"/>
                </a:solidFill>
              </a:defRPr>
            </a:pPr>
            <a:r>
              <a:t>Web Misconfiguration Auditing</a:t>
            </a:r>
          </a:p>
          <a:p>
            <a:pPr>
              <a:spcBef>
                <a:spcPts val="600"/>
              </a:spcBef>
              <a:defRPr sz="1150">
                <a:solidFill>
                  <a:srgbClr val="F8FAFC"/>
                </a:solidFill>
              </a:defRPr>
            </a:pPr>
            <a:r>
              <a:t>Learned to execute Nikto web scans to detect vulnerable configurations, sensitive exposed endpoints, outdated components, and missing browser-side defense headers.</a:t>
            </a:r>
          </a:p>
        </p:txBody>
      </p:sp>
      <p:sp>
        <p:nvSpPr>
          <p:cNvPr id="9" name="Rounded Rectangle 8"/>
          <p:cNvSpPr/>
          <p:nvPr/>
        </p:nvSpPr>
        <p:spPr>
          <a:xfrm>
            <a:off x="731520" y="3840480"/>
            <a:ext cx="5257800" cy="201168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4892040" cy="1737360"/>
          </a:xfrm>
          <a:prstGeom prst="rect">
            <a:avLst/>
          </a:prstGeom>
          <a:noFill/>
        </p:spPr>
        <p:txBody>
          <a:bodyPr wrap="square">
            <a:spAutoFit/>
          </a:bodyPr>
          <a:lstStyle/>
          <a:p>
            <a:pPr>
              <a:defRPr sz="1400" b="1">
                <a:solidFill>
                  <a:srgbClr val="34D399"/>
                </a:solidFill>
              </a:defRPr>
            </a:pPr>
            <a:r>
              <a:t>Traffic Interception &amp; Inspection</a:t>
            </a:r>
          </a:p>
          <a:p>
            <a:pPr>
              <a:spcBef>
                <a:spcPts val="600"/>
              </a:spcBef>
              <a:defRPr sz="1150">
                <a:solidFill>
                  <a:srgbClr val="F8FAFC"/>
                </a:solidFill>
              </a:defRPr>
            </a:pPr>
            <a:r>
              <a:t>Configured Burp Suite as a functional local HTTP proxy, intercepting and analyzing raw HTTP headers, unencrypted authentication credentials, and session cookie behaviors.</a:t>
            </a:r>
          </a:p>
        </p:txBody>
      </p:sp>
      <p:sp>
        <p:nvSpPr>
          <p:cNvPr id="11" name="Rounded Rectangle 10"/>
          <p:cNvSpPr/>
          <p:nvPr/>
        </p:nvSpPr>
        <p:spPr>
          <a:xfrm>
            <a:off x="6202375" y="3840480"/>
            <a:ext cx="5257800" cy="20116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5255" y="3977640"/>
            <a:ext cx="4892040" cy="1737360"/>
          </a:xfrm>
          <a:prstGeom prst="rect">
            <a:avLst/>
          </a:prstGeom>
          <a:noFill/>
        </p:spPr>
        <p:txBody>
          <a:bodyPr wrap="square">
            <a:spAutoFit/>
          </a:bodyPr>
          <a:lstStyle/>
          <a:p>
            <a:pPr>
              <a:defRPr sz="1400" b="1">
                <a:solidFill>
                  <a:srgbClr val="38BDF8"/>
                </a:solidFill>
              </a:defRPr>
            </a:pPr>
            <a:r>
              <a:t>Responsible Security Testing</a:t>
            </a:r>
          </a:p>
          <a:p>
            <a:pPr>
              <a:spcBef>
                <a:spcPts val="600"/>
              </a:spcBef>
              <a:defRPr sz="1150">
                <a:solidFill>
                  <a:srgbClr val="F8FAFC"/>
                </a:solidFill>
              </a:defRPr>
            </a:pPr>
            <a:r>
              <a:t>Reinforced professional VAPT standards: strict adherence to written authorization, scoped testing targets, evidence-backed finding documentation, and remediation delivery.</a:t>
            </a:r>
          </a:p>
        </p:txBody>
      </p:sp>
      <p:sp>
        <p:nvSpPr>
          <p:cNvPr id="13" name="Rounded Rectangle 12"/>
          <p:cNvSpPr/>
          <p:nvPr/>
        </p:nvSpPr>
        <p:spPr>
          <a:xfrm>
            <a:off x="731520" y="5989320"/>
            <a:ext cx="10728655" cy="685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80760"/>
            <a:ext cx="10332720" cy="502920"/>
          </a:xfrm>
          <a:prstGeom prst="rect">
            <a:avLst/>
          </a:prstGeom>
          <a:noFill/>
        </p:spPr>
        <p:txBody>
          <a:bodyPr wrap="square">
            <a:spAutoFit/>
          </a:bodyPr>
          <a:lstStyle/>
          <a:p>
            <a:pPr>
              <a:defRPr sz="1000" b="1">
                <a:solidFill>
                  <a:srgbClr val="38BDF8"/>
                </a:solidFill>
              </a:defRPr>
            </a:pPr>
            <a:r>
              <a:t>PRACTICAL COMPLETION SIGN-OFF • DG INTERNS HUB</a:t>
            </a:r>
          </a:p>
          <a:p>
            <a:pPr>
              <a:spcBef>
                <a:spcPts val="200"/>
              </a:spcBef>
              <a:defRPr sz="1150">
                <a:solidFill>
                  <a:srgbClr val="F8FAFC"/>
                </a:solidFill>
              </a:defRPr>
            </a:pPr>
            <a:r>
              <a:t>Intern: Krina Sorathiya | Track: Vulnerability Assessment &amp; Penetration Testing | Deliverable: Week 5 Assessment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